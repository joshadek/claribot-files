
<file path=[Content_Types].xml><?xml version="1.0" encoding="utf-8"?>
<Types xmlns="http://schemas.openxmlformats.org/package/2006/content-types">
  <Default Extension="fntdata" ContentType="application/x-fontdata"/>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embeddedFontLst>
    <p:embeddedFont>
      <p:font typeface="Urbanist" panose="020B0604020202020204" charset="0"/>
      <p:regular r:id="rId14"/>
      <p:bold r:id="rId15"/>
      <p:italic r:id="rId16"/>
      <p:boldItalic r:id="rId17"/>
    </p:embeddedFont>
    <p:embeddedFont>
      <p:font typeface="Urbanist SemiBold" panose="020B060402020202020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8D4F5E8-7834-445E-8F1C-85EE08DB9434}">
  <a:tblStyle styleId="{F8D4F5E8-7834-445E-8F1C-85EE08DB943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946"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0" name="Google Shape;27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4" name="Google Shape;29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jfif"/><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png"/><Relationship Id="rId4" Type="http://schemas.openxmlformats.org/officeDocument/2006/relationships/image" Target="../media/image9.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7.png"/><Relationship Id="rId10" Type="http://schemas.openxmlformats.org/officeDocument/2006/relationships/image" Target="../media/image21.png"/><Relationship Id="rId4" Type="http://schemas.openxmlformats.org/officeDocument/2006/relationships/image" Target="../media/image16.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1.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6.png"/><Relationship Id="rId7"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329"/>
        </a:solidFill>
        <a:effectLst/>
      </p:bgPr>
    </p:bg>
    <p:spTree>
      <p:nvGrpSpPr>
        <p:cNvPr id="1" name="Shape 83"/>
        <p:cNvGrpSpPr/>
        <p:nvPr/>
      </p:nvGrpSpPr>
      <p:grpSpPr>
        <a:xfrm>
          <a:off x="0" y="0"/>
          <a:ext cx="0" cy="0"/>
          <a:chOff x="0" y="0"/>
          <a:chExt cx="0" cy="0"/>
        </a:xfrm>
      </p:grpSpPr>
      <p:pic>
        <p:nvPicPr>
          <p:cNvPr id="85" name="Google Shape;85;p13" descr="image.png"/>
          <p:cNvPicPr preferRelativeResize="0"/>
          <p:nvPr/>
        </p:nvPicPr>
        <p:blipFill rotWithShape="1">
          <a:blip r:embed="rId3">
            <a:alphaModFix/>
          </a:blip>
          <a:srcRect/>
          <a:stretch/>
        </p:blipFill>
        <p:spPr>
          <a:xfrm>
            <a:off x="581025" y="5962650"/>
            <a:ext cx="11029950" cy="314325"/>
          </a:xfrm>
          <a:prstGeom prst="rect">
            <a:avLst/>
          </a:prstGeom>
          <a:noFill/>
          <a:ln>
            <a:noFill/>
          </a:ln>
        </p:spPr>
      </p:pic>
      <p:sp>
        <p:nvSpPr>
          <p:cNvPr id="86" name="Google Shape;86;p13"/>
          <p:cNvSpPr txBox="1"/>
          <p:nvPr/>
        </p:nvSpPr>
        <p:spPr>
          <a:xfrm>
            <a:off x="581024" y="6115050"/>
            <a:ext cx="72961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dirty="0">
                <a:solidFill>
                  <a:srgbClr val="22C55E"/>
                </a:solidFill>
                <a:latin typeface="Urbanist"/>
                <a:ea typeface="Urbanist"/>
                <a:cs typeface="Urbanist"/>
                <a:sym typeface="Urbanist"/>
              </a:rPr>
              <a:t>CLARILUX</a:t>
            </a:r>
            <a:endParaRPr dirty="0"/>
          </a:p>
        </p:txBody>
      </p:sp>
      <p:sp>
        <p:nvSpPr>
          <p:cNvPr id="87" name="Google Shape;87;p13"/>
          <p:cNvSpPr txBox="1"/>
          <p:nvPr/>
        </p:nvSpPr>
        <p:spPr>
          <a:xfrm>
            <a:off x="10991850" y="6115050"/>
            <a:ext cx="61912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75569"/>
                </a:solidFill>
                <a:latin typeface="Urbanist"/>
                <a:ea typeface="Urbanist"/>
                <a:cs typeface="Urbanist"/>
                <a:sym typeface="Urbanist"/>
              </a:rPr>
              <a:t>Slide 1 of 11</a:t>
            </a:r>
            <a:endParaRPr/>
          </a:p>
        </p:txBody>
      </p:sp>
      <p:sp>
        <p:nvSpPr>
          <p:cNvPr id="88" name="Google Shape;88;p13"/>
          <p:cNvSpPr txBox="1"/>
          <p:nvPr/>
        </p:nvSpPr>
        <p:spPr>
          <a:xfrm>
            <a:off x="2300525" y="2206972"/>
            <a:ext cx="7590948" cy="70098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4800" b="1" i="0" u="none" strike="noStrike" cap="none" dirty="0">
                <a:solidFill>
                  <a:srgbClr val="FFFFFF"/>
                </a:solidFill>
                <a:latin typeface="Urbanist"/>
                <a:ea typeface="Urbanist"/>
                <a:cs typeface="Urbanist"/>
                <a:sym typeface="Urbanist"/>
              </a:rPr>
              <a:t>CLARILUX </a:t>
            </a:r>
            <a:r>
              <a:rPr lang="en-US" sz="4800" b="1" i="0" u="none" strike="noStrike" cap="none" dirty="0">
                <a:solidFill>
                  <a:srgbClr val="22C55E"/>
                </a:solidFill>
                <a:latin typeface="Urbanist"/>
                <a:ea typeface="Urbanist"/>
                <a:cs typeface="Urbanist"/>
                <a:sym typeface="Urbanist"/>
              </a:rPr>
              <a:t>SUPPORT AI</a:t>
            </a:r>
            <a:endParaRPr dirty="0"/>
          </a:p>
        </p:txBody>
      </p:sp>
      <p:sp>
        <p:nvSpPr>
          <p:cNvPr id="89" name="Google Shape;89;p13"/>
          <p:cNvSpPr txBox="1"/>
          <p:nvPr/>
        </p:nvSpPr>
        <p:spPr>
          <a:xfrm>
            <a:off x="2481262" y="3098452"/>
            <a:ext cx="7229475"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CBD5E1"/>
                </a:solidFill>
                <a:latin typeface="Urbanist"/>
                <a:ea typeface="Urbanist"/>
                <a:cs typeface="Urbanist"/>
                <a:sym typeface="Urbanist"/>
              </a:rPr>
              <a:t>System Architecture &amp; Technical Integration Breakdown for Claribot Ecosystem</a:t>
            </a:r>
            <a:endParaRPr/>
          </a:p>
        </p:txBody>
      </p:sp>
      <p:pic>
        <p:nvPicPr>
          <p:cNvPr id="90" name="Google Shape;90;p13" descr="image.png"/>
          <p:cNvPicPr preferRelativeResize="0"/>
          <p:nvPr/>
        </p:nvPicPr>
        <p:blipFill rotWithShape="1">
          <a:blip r:embed="rId4">
            <a:alphaModFix/>
          </a:blip>
          <a:srcRect/>
          <a:stretch/>
        </p:blipFill>
        <p:spPr>
          <a:xfrm>
            <a:off x="3590925" y="3834417"/>
            <a:ext cx="1647825" cy="352425"/>
          </a:xfrm>
          <a:prstGeom prst="rect">
            <a:avLst/>
          </a:prstGeom>
          <a:noFill/>
          <a:ln>
            <a:noFill/>
          </a:ln>
        </p:spPr>
      </p:pic>
      <p:pic>
        <p:nvPicPr>
          <p:cNvPr id="91" name="Google Shape;91;p13" descr="image.png"/>
          <p:cNvPicPr preferRelativeResize="0"/>
          <p:nvPr/>
        </p:nvPicPr>
        <p:blipFill rotWithShape="1">
          <a:blip r:embed="rId5">
            <a:alphaModFix/>
          </a:blip>
          <a:srcRect/>
          <a:stretch/>
        </p:blipFill>
        <p:spPr>
          <a:xfrm>
            <a:off x="5429250" y="3844577"/>
            <a:ext cx="1533525" cy="352425"/>
          </a:xfrm>
          <a:prstGeom prst="rect">
            <a:avLst/>
          </a:prstGeom>
          <a:noFill/>
          <a:ln>
            <a:noFill/>
          </a:ln>
        </p:spPr>
      </p:pic>
      <p:pic>
        <p:nvPicPr>
          <p:cNvPr id="92" name="Google Shape;92;p13" descr="image.png"/>
          <p:cNvPicPr preferRelativeResize="0"/>
          <p:nvPr/>
        </p:nvPicPr>
        <p:blipFill rotWithShape="1">
          <a:blip r:embed="rId6">
            <a:alphaModFix/>
          </a:blip>
          <a:srcRect/>
          <a:stretch/>
        </p:blipFill>
        <p:spPr>
          <a:xfrm>
            <a:off x="7153275" y="3844577"/>
            <a:ext cx="1447800" cy="3524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329"/>
        </a:solidFill>
        <a:effectLst/>
      </p:bgPr>
    </p:bg>
    <p:spTree>
      <p:nvGrpSpPr>
        <p:cNvPr id="1" name="Shape 96"/>
        <p:cNvGrpSpPr/>
        <p:nvPr/>
      </p:nvGrpSpPr>
      <p:grpSpPr>
        <a:xfrm>
          <a:off x="0" y="0"/>
          <a:ext cx="0" cy="0"/>
          <a:chOff x="0" y="0"/>
          <a:chExt cx="0" cy="0"/>
        </a:xfrm>
      </p:grpSpPr>
      <p:pic>
        <p:nvPicPr>
          <p:cNvPr id="99" name="Google Shape;99;p14" descr="image.png"/>
          <p:cNvPicPr preferRelativeResize="0"/>
          <p:nvPr/>
        </p:nvPicPr>
        <p:blipFill rotWithShape="1">
          <a:blip r:embed="rId3">
            <a:alphaModFix/>
          </a:blip>
          <a:srcRect/>
          <a:stretch/>
        </p:blipFill>
        <p:spPr>
          <a:xfrm>
            <a:off x="581025" y="5962650"/>
            <a:ext cx="11029950" cy="314325"/>
          </a:xfrm>
          <a:prstGeom prst="rect">
            <a:avLst/>
          </a:prstGeom>
          <a:noFill/>
          <a:ln>
            <a:noFill/>
          </a:ln>
        </p:spPr>
      </p:pic>
      <p:sp>
        <p:nvSpPr>
          <p:cNvPr id="100" name="Google Shape;100;p14"/>
          <p:cNvSpPr txBox="1"/>
          <p:nvPr/>
        </p:nvSpPr>
        <p:spPr>
          <a:xfrm>
            <a:off x="581024" y="6115050"/>
            <a:ext cx="1034415"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dirty="0">
                <a:solidFill>
                  <a:srgbClr val="22C55E"/>
                </a:solidFill>
                <a:latin typeface="Urbanist"/>
                <a:ea typeface="Urbanist"/>
                <a:cs typeface="Urbanist"/>
                <a:sym typeface="Urbanist"/>
              </a:rPr>
              <a:t>CLARILUX</a:t>
            </a:r>
            <a:endParaRPr dirty="0"/>
          </a:p>
        </p:txBody>
      </p:sp>
      <p:sp>
        <p:nvSpPr>
          <p:cNvPr id="101" name="Google Shape;101;p14"/>
          <p:cNvSpPr txBox="1"/>
          <p:nvPr/>
        </p:nvSpPr>
        <p:spPr>
          <a:xfrm>
            <a:off x="6800850" y="6115050"/>
            <a:ext cx="481012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a:solidFill>
                  <a:srgbClr val="475569"/>
                </a:solidFill>
                <a:latin typeface="Urbanist"/>
                <a:ea typeface="Urbanist"/>
                <a:cs typeface="Urbanist"/>
                <a:sym typeface="Urbanist"/>
              </a:rPr>
              <a:t>Slide 2 of 11 | Flowchart Reference: CLARILUX SUPPORT AI DOCUMENTATION.docx</a:t>
            </a:r>
            <a:endParaRPr dirty="0"/>
          </a:p>
        </p:txBody>
      </p:sp>
      <p:sp>
        <p:nvSpPr>
          <p:cNvPr id="102" name="Google Shape;102;p14"/>
          <p:cNvSpPr txBox="1"/>
          <p:nvPr/>
        </p:nvSpPr>
        <p:spPr>
          <a:xfrm>
            <a:off x="581025" y="2321421"/>
            <a:ext cx="6149674"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8BDF8"/>
                </a:solidFill>
                <a:latin typeface="Urbanist SemiBold"/>
                <a:ea typeface="Urbanist SemiBold"/>
                <a:cs typeface="Urbanist SemiBold"/>
                <a:sym typeface="Urbanist SemiBold"/>
              </a:rPr>
              <a:t>Integrated Data Pipeline</a:t>
            </a:r>
            <a:endParaRPr/>
          </a:p>
        </p:txBody>
      </p:sp>
      <p:sp>
        <p:nvSpPr>
          <p:cNvPr id="103" name="Google Shape;103;p14"/>
          <p:cNvSpPr txBox="1"/>
          <p:nvPr/>
        </p:nvSpPr>
        <p:spPr>
          <a:xfrm>
            <a:off x="581025" y="2711946"/>
            <a:ext cx="5856833"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94A3B8"/>
                </a:solidFill>
                <a:latin typeface="Urbanist"/>
                <a:ea typeface="Urbanist"/>
                <a:cs typeface="Urbanist"/>
                <a:sym typeface="Urbanist"/>
              </a:rPr>
              <a:t>The complete blueprint of the Clarilux Support AI ecosystem integrates </a:t>
            </a:r>
            <a:r>
              <a:rPr lang="en-US" sz="1350" b="1" i="0" u="none" strike="noStrike" cap="none">
                <a:solidFill>
                  <a:srgbClr val="F1F5F9"/>
                </a:solidFill>
                <a:latin typeface="Urbanist"/>
                <a:ea typeface="Urbanist"/>
                <a:cs typeface="Urbanist"/>
                <a:sym typeface="Urbanist"/>
              </a:rPr>
              <a:t>Offline Ingestion</a:t>
            </a:r>
            <a:r>
              <a:rPr lang="en-US" sz="1350" b="0" i="0" u="none" strike="noStrike" cap="none">
                <a:solidFill>
                  <a:srgbClr val="94A3B8"/>
                </a:solidFill>
                <a:latin typeface="Urbanist"/>
                <a:ea typeface="Urbanist"/>
                <a:cs typeface="Urbanist"/>
                <a:sym typeface="Urbanist"/>
              </a:rPr>
              <a:t> with an active, </a:t>
            </a:r>
            <a:r>
              <a:rPr lang="en-US" sz="1350" b="1" i="0" u="none" strike="noStrike" cap="none">
                <a:solidFill>
                  <a:srgbClr val="F1F5F9"/>
                </a:solidFill>
                <a:latin typeface="Urbanist"/>
                <a:ea typeface="Urbanist"/>
                <a:cs typeface="Urbanist"/>
                <a:sym typeface="Urbanist"/>
              </a:rPr>
              <a:t>Online Query and Inference Flow</a:t>
            </a:r>
            <a:r>
              <a:rPr lang="en-US" sz="1350" b="0" i="0" u="none" strike="noStrike" cap="none">
                <a:solidFill>
                  <a:srgbClr val="94A3B8"/>
                </a:solidFill>
                <a:latin typeface="Urbanist"/>
                <a:ea typeface="Urbanist"/>
                <a:cs typeface="Urbanist"/>
                <a:sym typeface="Urbanist"/>
              </a:rPr>
              <a:t>.</a:t>
            </a:r>
            <a:endParaRPr/>
          </a:p>
        </p:txBody>
      </p:sp>
      <p:sp>
        <p:nvSpPr>
          <p:cNvPr id="105" name="Google Shape;105;p14"/>
          <p:cNvSpPr txBox="1"/>
          <p:nvPr/>
        </p:nvSpPr>
        <p:spPr>
          <a:xfrm>
            <a:off x="1009650" y="3451026"/>
            <a:ext cx="5428208"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F1F5F9"/>
                </a:solidFill>
                <a:latin typeface="Urbanist"/>
                <a:ea typeface="Urbanist"/>
                <a:cs typeface="Urbanist"/>
                <a:sym typeface="Urbanist"/>
              </a:rPr>
              <a:t>Offline Data Processing:</a:t>
            </a:r>
            <a:r>
              <a:rPr lang="en-US" sz="1425" b="0" i="0" u="none" strike="noStrike" cap="none">
                <a:solidFill>
                  <a:srgbClr val="94A3B8"/>
                </a:solidFill>
                <a:latin typeface="Urbanist"/>
                <a:ea typeface="Urbanist"/>
                <a:cs typeface="Urbanist"/>
                <a:sym typeface="Urbanist"/>
              </a:rPr>
              <a:t> System extracts and indexes PDF knowledge into persistent ChromaDB storage.</a:t>
            </a:r>
            <a:endParaRPr/>
          </a:p>
        </p:txBody>
      </p:sp>
      <p:sp>
        <p:nvSpPr>
          <p:cNvPr id="106" name="Google Shape;106;p14"/>
          <p:cNvSpPr txBox="1"/>
          <p:nvPr/>
        </p:nvSpPr>
        <p:spPr>
          <a:xfrm>
            <a:off x="1009650" y="4172842"/>
            <a:ext cx="5428208"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F1F5F9"/>
                </a:solidFill>
                <a:latin typeface="Urbanist"/>
                <a:ea typeface="Urbanist"/>
                <a:cs typeface="Urbanist"/>
                <a:sym typeface="Urbanist"/>
              </a:rPr>
              <a:t>Online RAG Logic:</a:t>
            </a:r>
            <a:r>
              <a:rPr lang="en-US" sz="1425" b="0" i="0" u="none" strike="noStrike" cap="none">
                <a:solidFill>
                  <a:srgbClr val="94A3B8"/>
                </a:solidFill>
                <a:latin typeface="Urbanist"/>
                <a:ea typeface="Urbanist"/>
                <a:cs typeface="Urbanist"/>
                <a:sym typeface="Urbanist"/>
              </a:rPr>
              <a:t> Live user questions trigger semantic lookups and custom prompt compiling before calling the API layers.</a:t>
            </a:r>
            <a:endParaRPr/>
          </a:p>
        </p:txBody>
      </p:sp>
      <p:pic>
        <p:nvPicPr>
          <p:cNvPr id="107" name="Google Shape;107;p14" descr="image.png"/>
          <p:cNvPicPr preferRelativeResize="0"/>
          <p:nvPr/>
        </p:nvPicPr>
        <p:blipFill rotWithShape="1">
          <a:blip r:embed="rId4">
            <a:alphaModFix/>
          </a:blip>
          <a:srcRect/>
          <a:stretch/>
        </p:blipFill>
        <p:spPr>
          <a:xfrm>
            <a:off x="581025" y="3479601"/>
            <a:ext cx="200025" cy="247650"/>
          </a:xfrm>
          <a:prstGeom prst="rect">
            <a:avLst/>
          </a:prstGeom>
          <a:noFill/>
          <a:ln>
            <a:noFill/>
          </a:ln>
        </p:spPr>
      </p:pic>
      <p:pic>
        <p:nvPicPr>
          <p:cNvPr id="108" name="Google Shape;108;p14" descr="image.png"/>
          <p:cNvPicPr preferRelativeResize="0"/>
          <p:nvPr/>
        </p:nvPicPr>
        <p:blipFill rotWithShape="1">
          <a:blip r:embed="rId5">
            <a:alphaModFix/>
          </a:blip>
          <a:srcRect/>
          <a:stretch/>
        </p:blipFill>
        <p:spPr>
          <a:xfrm>
            <a:off x="581025" y="4201417"/>
            <a:ext cx="200025" cy="247650"/>
          </a:xfrm>
          <a:prstGeom prst="rect">
            <a:avLst/>
          </a:prstGeom>
          <a:noFill/>
          <a:ln>
            <a:noFill/>
          </a:ln>
        </p:spPr>
      </p:pic>
      <p:sp>
        <p:nvSpPr>
          <p:cNvPr id="109" name="Google Shape;109;p14"/>
          <p:cNvSpPr txBox="1"/>
          <p:nvPr/>
        </p:nvSpPr>
        <p:spPr>
          <a:xfrm>
            <a:off x="771525" y="581025"/>
            <a:ext cx="11381422" cy="4342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FFFFFF"/>
                </a:solidFill>
                <a:latin typeface="Urbanist"/>
                <a:ea typeface="Urbanist"/>
                <a:cs typeface="Urbanist"/>
                <a:sym typeface="Urbanist"/>
              </a:rPr>
              <a:t>SYSTEM ARCHITECTURE</a:t>
            </a:r>
            <a:endParaRPr/>
          </a:p>
        </p:txBody>
      </p:sp>
      <p:sp>
        <p:nvSpPr>
          <p:cNvPr id="110" name="Google Shape;110;p14"/>
          <p:cNvSpPr/>
          <p:nvPr/>
        </p:nvSpPr>
        <p:spPr>
          <a:xfrm>
            <a:off x="581025" y="581025"/>
            <a:ext cx="57150" cy="434280"/>
          </a:xfrm>
          <a:prstGeom prst="rect">
            <a:avLst/>
          </a:prstGeom>
          <a:solidFill>
            <a:srgbClr val="22C5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1A8389E8-2C50-658B-F6BA-A5A51E723F02}"/>
              </a:ext>
            </a:extLst>
          </p:cNvPr>
          <p:cNvPicPr>
            <a:picLocks noChangeAspect="1"/>
          </p:cNvPicPr>
          <p:nvPr/>
        </p:nvPicPr>
        <p:blipFill>
          <a:blip r:embed="rId6"/>
          <a:stretch>
            <a:fillRect/>
          </a:stretch>
        </p:blipFill>
        <p:spPr>
          <a:xfrm>
            <a:off x="7491412" y="1736526"/>
            <a:ext cx="3429000" cy="3429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329"/>
        </a:solidFill>
        <a:effectLst/>
      </p:bgPr>
    </p:bg>
    <p:spTree>
      <p:nvGrpSpPr>
        <p:cNvPr id="1" name="Shape 114"/>
        <p:cNvGrpSpPr/>
        <p:nvPr/>
      </p:nvGrpSpPr>
      <p:grpSpPr>
        <a:xfrm>
          <a:off x="0" y="0"/>
          <a:ext cx="0" cy="0"/>
          <a:chOff x="0" y="0"/>
          <a:chExt cx="0" cy="0"/>
        </a:xfrm>
      </p:grpSpPr>
      <p:pic>
        <p:nvPicPr>
          <p:cNvPr id="116" name="Google Shape;116;p15" descr="image.png"/>
          <p:cNvPicPr preferRelativeResize="0"/>
          <p:nvPr/>
        </p:nvPicPr>
        <p:blipFill rotWithShape="1">
          <a:blip r:embed="rId3">
            <a:alphaModFix/>
          </a:blip>
          <a:srcRect/>
          <a:stretch/>
        </p:blipFill>
        <p:spPr>
          <a:xfrm>
            <a:off x="6818858" y="1909911"/>
            <a:ext cx="4792116" cy="1531441"/>
          </a:xfrm>
          <a:prstGeom prst="rect">
            <a:avLst/>
          </a:prstGeom>
          <a:noFill/>
          <a:ln>
            <a:noFill/>
          </a:ln>
        </p:spPr>
      </p:pic>
      <p:pic>
        <p:nvPicPr>
          <p:cNvPr id="117" name="Google Shape;117;p15" descr="image.png"/>
          <p:cNvPicPr preferRelativeResize="0"/>
          <p:nvPr/>
        </p:nvPicPr>
        <p:blipFill rotWithShape="1">
          <a:blip r:embed="rId4">
            <a:alphaModFix/>
          </a:blip>
          <a:srcRect/>
          <a:stretch/>
        </p:blipFill>
        <p:spPr>
          <a:xfrm>
            <a:off x="6818858" y="3631852"/>
            <a:ext cx="4792116" cy="1531441"/>
          </a:xfrm>
          <a:prstGeom prst="rect">
            <a:avLst/>
          </a:prstGeom>
          <a:noFill/>
          <a:ln>
            <a:noFill/>
          </a:ln>
        </p:spPr>
      </p:pic>
      <p:pic>
        <p:nvPicPr>
          <p:cNvPr id="118" name="Google Shape;118;p15" descr="image.png"/>
          <p:cNvPicPr preferRelativeResize="0"/>
          <p:nvPr/>
        </p:nvPicPr>
        <p:blipFill rotWithShape="1">
          <a:blip r:embed="rId5">
            <a:alphaModFix/>
          </a:blip>
          <a:srcRect/>
          <a:stretch/>
        </p:blipFill>
        <p:spPr>
          <a:xfrm>
            <a:off x="581025" y="5962650"/>
            <a:ext cx="11029950" cy="314325"/>
          </a:xfrm>
          <a:prstGeom prst="rect">
            <a:avLst/>
          </a:prstGeom>
          <a:noFill/>
          <a:ln>
            <a:noFill/>
          </a:ln>
        </p:spPr>
      </p:pic>
      <p:sp>
        <p:nvSpPr>
          <p:cNvPr id="119" name="Google Shape;119;p15"/>
          <p:cNvSpPr txBox="1"/>
          <p:nvPr/>
        </p:nvSpPr>
        <p:spPr>
          <a:xfrm>
            <a:off x="581025" y="6115050"/>
            <a:ext cx="662304"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dirty="0">
                <a:solidFill>
                  <a:srgbClr val="22C55E"/>
                </a:solidFill>
                <a:latin typeface="Urbanist"/>
                <a:ea typeface="Urbanist"/>
                <a:cs typeface="Urbanist"/>
                <a:sym typeface="Urbanist"/>
              </a:rPr>
              <a:t>CLARILUX</a:t>
            </a:r>
            <a:endParaRPr dirty="0"/>
          </a:p>
        </p:txBody>
      </p:sp>
      <p:sp>
        <p:nvSpPr>
          <p:cNvPr id="120" name="Google Shape;120;p15"/>
          <p:cNvSpPr txBox="1"/>
          <p:nvPr/>
        </p:nvSpPr>
        <p:spPr>
          <a:xfrm>
            <a:off x="10963275" y="6115050"/>
            <a:ext cx="6477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75569"/>
                </a:solidFill>
                <a:latin typeface="Urbanist"/>
                <a:ea typeface="Urbanist"/>
                <a:cs typeface="Urbanist"/>
                <a:sym typeface="Urbanist"/>
              </a:rPr>
              <a:t>Slide 3 of 11</a:t>
            </a:r>
            <a:endParaRPr/>
          </a:p>
        </p:txBody>
      </p:sp>
      <p:sp>
        <p:nvSpPr>
          <p:cNvPr id="121" name="Google Shape;121;p15"/>
          <p:cNvSpPr txBox="1"/>
          <p:nvPr/>
        </p:nvSpPr>
        <p:spPr>
          <a:xfrm>
            <a:off x="581025" y="2128986"/>
            <a:ext cx="6149674"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8BDF8"/>
                </a:solidFill>
                <a:latin typeface="Urbanist SemiBold"/>
                <a:ea typeface="Urbanist SemiBold"/>
                <a:cs typeface="Urbanist SemiBold"/>
                <a:sym typeface="Urbanist SemiBold"/>
              </a:rPr>
              <a:t>Decoupled Infrastructure</a:t>
            </a:r>
            <a:endParaRPr/>
          </a:p>
        </p:txBody>
      </p:sp>
      <p:sp>
        <p:nvSpPr>
          <p:cNvPr id="122" name="Google Shape;122;p15"/>
          <p:cNvSpPr txBox="1"/>
          <p:nvPr/>
        </p:nvSpPr>
        <p:spPr>
          <a:xfrm>
            <a:off x="581025" y="2519511"/>
            <a:ext cx="5856833"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94A3B8"/>
                </a:solidFill>
                <a:latin typeface="Urbanist"/>
                <a:ea typeface="Urbanist"/>
                <a:cs typeface="Urbanist"/>
                <a:sym typeface="Urbanist"/>
              </a:rPr>
              <a:t>The system separates the presentation layer from the core computation engine, promoting horizontal scaling and API isolation.</a:t>
            </a:r>
            <a:endParaRPr/>
          </a:p>
        </p:txBody>
      </p:sp>
      <p:sp>
        <p:nvSpPr>
          <p:cNvPr id="123" name="Google Shape;123;p15"/>
          <p:cNvSpPr txBox="1"/>
          <p:nvPr/>
        </p:nvSpPr>
        <p:spPr>
          <a:xfrm>
            <a:off x="1009650" y="3306216"/>
            <a:ext cx="5428208"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F1F5F9"/>
                </a:solidFill>
                <a:latin typeface="Urbanist"/>
                <a:ea typeface="Urbanist"/>
                <a:cs typeface="Urbanist"/>
                <a:sym typeface="Urbanist"/>
              </a:rPr>
              <a:t>FastAPI Backend:</a:t>
            </a:r>
            <a:r>
              <a:rPr lang="en-US" sz="1425" b="0" i="0" u="none" strike="noStrike" cap="none">
                <a:solidFill>
                  <a:srgbClr val="94A3B8"/>
                </a:solidFill>
                <a:latin typeface="Urbanist"/>
                <a:ea typeface="Urbanist"/>
                <a:cs typeface="Urbanist"/>
                <a:sym typeface="Urbanist"/>
              </a:rPr>
              <a:t> Acts as the robust engine running logical flows, vector search, SDK interactions, and the REST routes.</a:t>
            </a:r>
            <a:endParaRPr/>
          </a:p>
        </p:txBody>
      </p:sp>
      <p:sp>
        <p:nvSpPr>
          <p:cNvPr id="124" name="Google Shape;124;p15"/>
          <p:cNvSpPr txBox="1"/>
          <p:nvPr/>
        </p:nvSpPr>
        <p:spPr>
          <a:xfrm>
            <a:off x="1009650" y="4075658"/>
            <a:ext cx="5428208"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F1F5F9"/>
                </a:solidFill>
                <a:latin typeface="Urbanist"/>
                <a:ea typeface="Urbanist"/>
                <a:cs typeface="Urbanist"/>
                <a:sym typeface="Urbanist"/>
              </a:rPr>
              <a:t>Streamlit Frontend:</a:t>
            </a:r>
            <a:r>
              <a:rPr lang="en-US" sz="1425" b="0" i="0" u="none" strike="noStrike" cap="none">
                <a:solidFill>
                  <a:srgbClr val="94A3B8"/>
                </a:solidFill>
                <a:latin typeface="Urbanist"/>
                <a:ea typeface="Urbanist"/>
                <a:cs typeface="Urbanist"/>
                <a:sym typeface="Urbanist"/>
              </a:rPr>
              <a:t> Provides a lightweight, high-productivity client interface rendering markdown, chat history, and running UI loops asynchronously.</a:t>
            </a:r>
            <a:endParaRPr/>
          </a:p>
        </p:txBody>
      </p:sp>
      <p:sp>
        <p:nvSpPr>
          <p:cNvPr id="125" name="Google Shape;125;p15"/>
          <p:cNvSpPr txBox="1"/>
          <p:nvPr/>
        </p:nvSpPr>
        <p:spPr>
          <a:xfrm>
            <a:off x="7066508" y="2157561"/>
            <a:ext cx="4511657" cy="228600"/>
          </a:xfrm>
          <a:prstGeom prst="rect">
            <a:avLst/>
          </a:prstGeom>
          <a:noFill/>
          <a:ln>
            <a:noFill/>
          </a:ln>
        </p:spPr>
        <p:txBody>
          <a:bodyPr spcFirstLastPara="1" wrap="square" lIns="333375" tIns="0" rIns="0" bIns="0" anchor="t" anchorCtr="0">
            <a:spAutoFit/>
          </a:bodyPr>
          <a:lstStyle/>
          <a:p>
            <a:pPr marL="0" marR="0" lvl="0" indent="0" algn="l" rtl="0">
              <a:spcBef>
                <a:spcPts val="0"/>
              </a:spcBef>
              <a:spcAft>
                <a:spcPts val="0"/>
              </a:spcAft>
              <a:buNone/>
            </a:pPr>
            <a:r>
              <a:rPr lang="en-US" sz="1500" b="0" i="0" u="none" strike="noStrike" cap="none">
                <a:solidFill>
                  <a:srgbClr val="22C55E"/>
                </a:solidFill>
                <a:latin typeface="Urbanist SemiBold"/>
                <a:ea typeface="Urbanist SemiBold"/>
                <a:cs typeface="Urbanist SemiBold"/>
                <a:sym typeface="Urbanist SemiBold"/>
              </a:rPr>
              <a:t>Asynchronous Communication</a:t>
            </a:r>
            <a:endParaRPr/>
          </a:p>
        </p:txBody>
      </p:sp>
      <p:sp>
        <p:nvSpPr>
          <p:cNvPr id="126" name="Google Shape;126;p15"/>
          <p:cNvSpPr txBox="1"/>
          <p:nvPr/>
        </p:nvSpPr>
        <p:spPr>
          <a:xfrm>
            <a:off x="7066508" y="2462361"/>
            <a:ext cx="4296816"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94A3B8"/>
                </a:solidFill>
                <a:latin typeface="Urbanist"/>
                <a:ea typeface="Urbanist"/>
                <a:cs typeface="Urbanist"/>
                <a:sym typeface="Urbanist"/>
              </a:rPr>
              <a:t>The frontend relies on </a:t>
            </a:r>
            <a:r>
              <a:rPr lang="en-US" sz="1200" b="1" i="0" u="none" strike="noStrike" cap="none">
                <a:solidFill>
                  <a:srgbClr val="F1F5F9"/>
                </a:solidFill>
                <a:latin typeface="Urbanist"/>
                <a:ea typeface="Urbanist"/>
                <a:cs typeface="Urbanist"/>
                <a:sym typeface="Urbanist"/>
              </a:rPr>
              <a:t>HTTPX</a:t>
            </a:r>
            <a:r>
              <a:rPr lang="en-US" sz="1200" b="0" i="0" u="none" strike="noStrike" cap="none">
                <a:solidFill>
                  <a:srgbClr val="94A3B8"/>
                </a:solidFill>
                <a:latin typeface="Urbanist"/>
                <a:ea typeface="Urbanist"/>
                <a:cs typeface="Urbanist"/>
                <a:sym typeface="Urbanist"/>
              </a:rPr>
              <a:t> to query backend API channels concurrently, blocking zero main interface threads during heavy RAG computations.</a:t>
            </a:r>
            <a:endParaRPr/>
          </a:p>
        </p:txBody>
      </p:sp>
      <p:sp>
        <p:nvSpPr>
          <p:cNvPr id="127" name="Google Shape;127;p15"/>
          <p:cNvSpPr txBox="1"/>
          <p:nvPr/>
        </p:nvSpPr>
        <p:spPr>
          <a:xfrm>
            <a:off x="7066508" y="3879502"/>
            <a:ext cx="4511657" cy="228600"/>
          </a:xfrm>
          <a:prstGeom prst="rect">
            <a:avLst/>
          </a:prstGeom>
          <a:noFill/>
          <a:ln>
            <a:noFill/>
          </a:ln>
        </p:spPr>
        <p:txBody>
          <a:bodyPr spcFirstLastPara="1" wrap="square" lIns="333375" tIns="0" rIns="0" bIns="0" anchor="t" anchorCtr="0">
            <a:spAutoFit/>
          </a:bodyPr>
          <a:lstStyle/>
          <a:p>
            <a:pPr marL="0" marR="0" lvl="0" indent="0" algn="l" rtl="0">
              <a:spcBef>
                <a:spcPts val="0"/>
              </a:spcBef>
              <a:spcAft>
                <a:spcPts val="0"/>
              </a:spcAft>
              <a:buNone/>
            </a:pPr>
            <a:r>
              <a:rPr lang="en-US" sz="1500" b="0" i="0" u="none" strike="noStrike" cap="none">
                <a:solidFill>
                  <a:srgbClr val="06B6D4"/>
                </a:solidFill>
                <a:latin typeface="Urbanist SemiBold"/>
                <a:ea typeface="Urbanist SemiBold"/>
                <a:cs typeface="Urbanist SemiBold"/>
                <a:sym typeface="Urbanist SemiBold"/>
              </a:rPr>
              <a:t>Isolated Environments</a:t>
            </a:r>
            <a:endParaRPr/>
          </a:p>
        </p:txBody>
      </p:sp>
      <p:sp>
        <p:nvSpPr>
          <p:cNvPr id="128" name="Google Shape;128;p15"/>
          <p:cNvSpPr txBox="1"/>
          <p:nvPr/>
        </p:nvSpPr>
        <p:spPr>
          <a:xfrm>
            <a:off x="7066508" y="4184302"/>
            <a:ext cx="4296816" cy="4875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94A3B8"/>
                </a:solidFill>
                <a:latin typeface="Urbanist"/>
                <a:ea typeface="Urbanist"/>
                <a:cs typeface="Urbanist"/>
                <a:sym typeface="Urbanist"/>
              </a:rPr>
              <a:t>Docker Compose synchronizes ports </a:t>
            </a:r>
            <a:r>
              <a:rPr lang="en-US" sz="1200" b="1" i="0" u="none" strike="noStrike" cap="none">
                <a:solidFill>
                  <a:srgbClr val="F1F5F9"/>
                </a:solidFill>
                <a:latin typeface="Urbanist"/>
                <a:ea typeface="Urbanist"/>
                <a:cs typeface="Urbanist"/>
                <a:sym typeface="Urbanist"/>
              </a:rPr>
              <a:t>8501</a:t>
            </a:r>
            <a:r>
              <a:rPr lang="en-US" sz="1200" b="0" i="0" u="none" strike="noStrike" cap="none">
                <a:solidFill>
                  <a:srgbClr val="94A3B8"/>
                </a:solidFill>
                <a:latin typeface="Urbanist"/>
                <a:ea typeface="Urbanist"/>
                <a:cs typeface="Urbanist"/>
                <a:sym typeface="Urbanist"/>
              </a:rPr>
              <a:t> (Streamlit) and </a:t>
            </a:r>
            <a:r>
              <a:rPr lang="en-US" sz="1200" b="1" i="0" u="none" strike="noStrike" cap="none">
                <a:solidFill>
                  <a:srgbClr val="F1F5F9"/>
                </a:solidFill>
                <a:latin typeface="Urbanist"/>
                <a:ea typeface="Urbanist"/>
                <a:cs typeface="Urbanist"/>
                <a:sym typeface="Urbanist"/>
              </a:rPr>
              <a:t>8502</a:t>
            </a:r>
            <a:r>
              <a:rPr lang="en-US" sz="1200" b="0" i="0" u="none" strike="noStrike" cap="none">
                <a:solidFill>
                  <a:srgbClr val="94A3B8"/>
                </a:solidFill>
                <a:latin typeface="Urbanist"/>
                <a:ea typeface="Urbanist"/>
                <a:cs typeface="Urbanist"/>
                <a:sym typeface="Urbanist"/>
              </a:rPr>
              <a:t> (FastAPI) while mapping network connections natively.</a:t>
            </a:r>
            <a:endParaRPr/>
          </a:p>
        </p:txBody>
      </p:sp>
      <p:pic>
        <p:nvPicPr>
          <p:cNvPr id="129" name="Google Shape;129;p15" descr="image.png"/>
          <p:cNvPicPr preferRelativeResize="0"/>
          <p:nvPr/>
        </p:nvPicPr>
        <p:blipFill rotWithShape="1">
          <a:blip r:embed="rId6">
            <a:alphaModFix/>
          </a:blip>
          <a:srcRect/>
          <a:stretch/>
        </p:blipFill>
        <p:spPr>
          <a:xfrm>
            <a:off x="7066508" y="2176611"/>
            <a:ext cx="238125" cy="190500"/>
          </a:xfrm>
          <a:prstGeom prst="rect">
            <a:avLst/>
          </a:prstGeom>
          <a:noFill/>
          <a:ln>
            <a:noFill/>
          </a:ln>
        </p:spPr>
      </p:pic>
      <p:pic>
        <p:nvPicPr>
          <p:cNvPr id="130" name="Google Shape;130;p15" descr="image.png"/>
          <p:cNvPicPr preferRelativeResize="0"/>
          <p:nvPr/>
        </p:nvPicPr>
        <p:blipFill rotWithShape="1">
          <a:blip r:embed="rId7">
            <a:alphaModFix/>
          </a:blip>
          <a:srcRect/>
          <a:stretch/>
        </p:blipFill>
        <p:spPr>
          <a:xfrm>
            <a:off x="7066508" y="3898552"/>
            <a:ext cx="238125" cy="190500"/>
          </a:xfrm>
          <a:prstGeom prst="rect">
            <a:avLst/>
          </a:prstGeom>
          <a:noFill/>
          <a:ln>
            <a:noFill/>
          </a:ln>
        </p:spPr>
      </p:pic>
      <p:pic>
        <p:nvPicPr>
          <p:cNvPr id="131" name="Google Shape;131;p15" descr="image.png"/>
          <p:cNvPicPr preferRelativeResize="0"/>
          <p:nvPr/>
        </p:nvPicPr>
        <p:blipFill rotWithShape="1">
          <a:blip r:embed="rId8">
            <a:alphaModFix/>
          </a:blip>
          <a:srcRect/>
          <a:stretch/>
        </p:blipFill>
        <p:spPr>
          <a:xfrm>
            <a:off x="581025" y="3334791"/>
            <a:ext cx="228600" cy="247650"/>
          </a:xfrm>
          <a:prstGeom prst="rect">
            <a:avLst/>
          </a:prstGeom>
          <a:noFill/>
          <a:ln>
            <a:noFill/>
          </a:ln>
        </p:spPr>
      </p:pic>
      <p:pic>
        <p:nvPicPr>
          <p:cNvPr id="132" name="Google Shape;132;p15" descr="image.png"/>
          <p:cNvPicPr preferRelativeResize="0"/>
          <p:nvPr/>
        </p:nvPicPr>
        <p:blipFill rotWithShape="1">
          <a:blip r:embed="rId9">
            <a:alphaModFix/>
          </a:blip>
          <a:srcRect/>
          <a:stretch/>
        </p:blipFill>
        <p:spPr>
          <a:xfrm>
            <a:off x="581025" y="4104233"/>
            <a:ext cx="228600" cy="247650"/>
          </a:xfrm>
          <a:prstGeom prst="rect">
            <a:avLst/>
          </a:prstGeom>
          <a:noFill/>
          <a:ln>
            <a:noFill/>
          </a:ln>
        </p:spPr>
      </p:pic>
      <p:sp>
        <p:nvSpPr>
          <p:cNvPr id="133" name="Google Shape;133;p15"/>
          <p:cNvSpPr txBox="1"/>
          <p:nvPr/>
        </p:nvSpPr>
        <p:spPr>
          <a:xfrm>
            <a:off x="771525" y="581025"/>
            <a:ext cx="11381422" cy="4342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FFFFFF"/>
                </a:solidFill>
                <a:latin typeface="Urbanist"/>
                <a:ea typeface="Urbanist"/>
                <a:cs typeface="Urbanist"/>
                <a:sym typeface="Urbanist"/>
              </a:rPr>
              <a:t>THE OPERATIONAL CHASSIS</a:t>
            </a:r>
            <a:endParaRPr/>
          </a:p>
        </p:txBody>
      </p:sp>
      <p:sp>
        <p:nvSpPr>
          <p:cNvPr id="134" name="Google Shape;134;p15"/>
          <p:cNvSpPr/>
          <p:nvPr/>
        </p:nvSpPr>
        <p:spPr>
          <a:xfrm>
            <a:off x="581025" y="581025"/>
            <a:ext cx="57150" cy="434280"/>
          </a:xfrm>
          <a:prstGeom prst="rect">
            <a:avLst/>
          </a:prstGeom>
          <a:solidFill>
            <a:srgbClr val="22C5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329"/>
        </a:solidFill>
        <a:effectLst/>
      </p:bgPr>
    </p:bg>
    <p:spTree>
      <p:nvGrpSpPr>
        <p:cNvPr id="1" name="Shape 138"/>
        <p:cNvGrpSpPr/>
        <p:nvPr/>
      </p:nvGrpSpPr>
      <p:grpSpPr>
        <a:xfrm>
          <a:off x="0" y="0"/>
          <a:ext cx="0" cy="0"/>
          <a:chOff x="0" y="0"/>
          <a:chExt cx="0" cy="0"/>
        </a:xfrm>
      </p:grpSpPr>
      <p:pic>
        <p:nvPicPr>
          <p:cNvPr id="140" name="Google Shape;140;p16" descr="image.png"/>
          <p:cNvPicPr preferRelativeResize="0"/>
          <p:nvPr/>
        </p:nvPicPr>
        <p:blipFill rotWithShape="1">
          <a:blip r:embed="rId3">
            <a:alphaModFix/>
          </a:blip>
          <a:srcRect/>
          <a:stretch/>
        </p:blipFill>
        <p:spPr>
          <a:xfrm>
            <a:off x="581025" y="5962650"/>
            <a:ext cx="11029950" cy="314325"/>
          </a:xfrm>
          <a:prstGeom prst="rect">
            <a:avLst/>
          </a:prstGeom>
          <a:noFill/>
          <a:ln>
            <a:noFill/>
          </a:ln>
        </p:spPr>
      </p:pic>
      <p:sp>
        <p:nvSpPr>
          <p:cNvPr id="141" name="Google Shape;141;p16"/>
          <p:cNvSpPr txBox="1"/>
          <p:nvPr/>
        </p:nvSpPr>
        <p:spPr>
          <a:xfrm>
            <a:off x="581024" y="6115050"/>
            <a:ext cx="657225"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dirty="0">
                <a:solidFill>
                  <a:srgbClr val="22C55E"/>
                </a:solidFill>
                <a:latin typeface="Urbanist"/>
                <a:ea typeface="Urbanist"/>
                <a:cs typeface="Urbanist"/>
                <a:sym typeface="Urbanist"/>
              </a:rPr>
              <a:t>CLARILUX</a:t>
            </a:r>
            <a:endParaRPr dirty="0"/>
          </a:p>
        </p:txBody>
      </p:sp>
      <p:sp>
        <p:nvSpPr>
          <p:cNvPr id="142" name="Google Shape;142;p16"/>
          <p:cNvSpPr txBox="1"/>
          <p:nvPr/>
        </p:nvSpPr>
        <p:spPr>
          <a:xfrm>
            <a:off x="10953750" y="6115050"/>
            <a:ext cx="65722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75569"/>
                </a:solidFill>
                <a:latin typeface="Urbanist"/>
                <a:ea typeface="Urbanist"/>
                <a:cs typeface="Urbanist"/>
                <a:sym typeface="Urbanist"/>
              </a:rPr>
              <a:t>Slide 4 of 11</a:t>
            </a:r>
            <a:endParaRPr/>
          </a:p>
        </p:txBody>
      </p:sp>
      <p:sp>
        <p:nvSpPr>
          <p:cNvPr id="143" name="Google Shape;143;p16"/>
          <p:cNvSpPr txBox="1"/>
          <p:nvPr/>
        </p:nvSpPr>
        <p:spPr>
          <a:xfrm>
            <a:off x="581025" y="2850653"/>
            <a:ext cx="2381250" cy="104775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8250" b="1" i="0" u="none" strike="noStrike" cap="none">
                <a:solidFill>
                  <a:srgbClr val="22C55E"/>
                </a:solidFill>
                <a:latin typeface="Urbanist"/>
                <a:ea typeface="Urbanist"/>
                <a:cs typeface="Urbanist"/>
                <a:sym typeface="Urbanist"/>
              </a:rPr>
              <a:t>1.0M</a:t>
            </a:r>
            <a:endParaRPr/>
          </a:p>
        </p:txBody>
      </p:sp>
      <p:sp>
        <p:nvSpPr>
          <p:cNvPr id="144" name="Google Shape;144;p16"/>
          <p:cNvSpPr txBox="1"/>
          <p:nvPr/>
        </p:nvSpPr>
        <p:spPr>
          <a:xfrm>
            <a:off x="581025" y="3993653"/>
            <a:ext cx="2381250" cy="2286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0" i="0" u="none" strike="noStrike" cap="none">
                <a:solidFill>
                  <a:srgbClr val="38BDF8"/>
                </a:solidFill>
                <a:latin typeface="Urbanist SemiBold"/>
                <a:ea typeface="Urbanist SemiBold"/>
                <a:cs typeface="Urbanist SemiBold"/>
                <a:sym typeface="Urbanist SemiBold"/>
              </a:rPr>
              <a:t>TOKEN CONTEXT WINDOW</a:t>
            </a:r>
            <a:endParaRPr/>
          </a:p>
        </p:txBody>
      </p:sp>
      <p:sp>
        <p:nvSpPr>
          <p:cNvPr id="145" name="Google Shape;145;p16"/>
          <p:cNvSpPr txBox="1"/>
          <p:nvPr/>
        </p:nvSpPr>
        <p:spPr>
          <a:xfrm>
            <a:off x="3438525" y="2033736"/>
            <a:ext cx="8581072"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8BDF8"/>
                </a:solidFill>
                <a:latin typeface="Urbanist SemiBold"/>
                <a:ea typeface="Urbanist SemiBold"/>
                <a:cs typeface="Urbanist SemiBold"/>
                <a:sym typeface="Urbanist SemiBold"/>
              </a:rPr>
              <a:t>Gemini 2.5 Flash</a:t>
            </a:r>
            <a:endParaRPr/>
          </a:p>
        </p:txBody>
      </p:sp>
      <p:sp>
        <p:nvSpPr>
          <p:cNvPr id="146" name="Google Shape;146;p16"/>
          <p:cNvSpPr txBox="1"/>
          <p:nvPr/>
        </p:nvSpPr>
        <p:spPr>
          <a:xfrm>
            <a:off x="3438525" y="2424261"/>
            <a:ext cx="817245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94A3B8"/>
                </a:solidFill>
                <a:latin typeface="Urbanist"/>
                <a:ea typeface="Urbanist"/>
                <a:cs typeface="Urbanist"/>
                <a:sym typeface="Urbanist"/>
              </a:rPr>
              <a:t>Engineered to balance enterprise performance, production scale, and execution speeds, making it the ideal brain for the Claribot platform.</a:t>
            </a:r>
            <a:endParaRPr/>
          </a:p>
        </p:txBody>
      </p:sp>
      <p:sp>
        <p:nvSpPr>
          <p:cNvPr id="147" name="Google Shape;147;p16"/>
          <p:cNvSpPr txBox="1"/>
          <p:nvPr/>
        </p:nvSpPr>
        <p:spPr>
          <a:xfrm>
            <a:off x="3867150" y="3210966"/>
            <a:ext cx="7743825"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F1F5F9"/>
                </a:solidFill>
                <a:latin typeface="Urbanist"/>
                <a:ea typeface="Urbanist"/>
                <a:cs typeface="Urbanist"/>
                <a:sym typeface="Urbanist"/>
              </a:rPr>
              <a:t>Cost-Efficient API:</a:t>
            </a:r>
            <a:r>
              <a:rPr lang="en-US" sz="1425" b="0" i="0" u="none" strike="noStrike" cap="none">
                <a:solidFill>
                  <a:srgbClr val="94A3B8"/>
                </a:solidFill>
                <a:latin typeface="Urbanist"/>
                <a:ea typeface="Urbanist"/>
                <a:cs typeface="Urbanist"/>
                <a:sym typeface="Urbanist"/>
              </a:rPr>
              <a:t> Free-tier token limits lower R&amp;D overhead and support fast testing environments.</a:t>
            </a:r>
            <a:endParaRPr/>
          </a:p>
        </p:txBody>
      </p:sp>
      <p:sp>
        <p:nvSpPr>
          <p:cNvPr id="148" name="Google Shape;148;p16"/>
          <p:cNvSpPr txBox="1"/>
          <p:nvPr/>
        </p:nvSpPr>
        <p:spPr>
          <a:xfrm>
            <a:off x="3867150" y="3980408"/>
            <a:ext cx="77438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F1F5F9"/>
                </a:solidFill>
                <a:latin typeface="Urbanist"/>
                <a:ea typeface="Urbanist"/>
                <a:cs typeface="Urbanist"/>
                <a:sym typeface="Urbanist"/>
              </a:rPr>
              <a:t>Low-Latency Output:</a:t>
            </a:r>
            <a:r>
              <a:rPr lang="en-US" sz="1425" b="0" i="0" u="none" strike="noStrike" cap="none">
                <a:solidFill>
                  <a:srgbClr val="94A3B8"/>
                </a:solidFill>
                <a:latin typeface="Urbanist"/>
                <a:ea typeface="Urbanist"/>
                <a:cs typeface="Urbanist"/>
                <a:sym typeface="Urbanist"/>
              </a:rPr>
              <a:t> Generation is quick and seamless, preventing lagging user experiences.</a:t>
            </a:r>
            <a:endParaRPr/>
          </a:p>
        </p:txBody>
      </p:sp>
      <p:sp>
        <p:nvSpPr>
          <p:cNvPr id="149" name="Google Shape;149;p16"/>
          <p:cNvSpPr txBox="1"/>
          <p:nvPr/>
        </p:nvSpPr>
        <p:spPr>
          <a:xfrm>
            <a:off x="3867150" y="4460378"/>
            <a:ext cx="7743825"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F1F5F9"/>
                </a:solidFill>
                <a:latin typeface="Urbanist"/>
                <a:ea typeface="Urbanist"/>
                <a:cs typeface="Urbanist"/>
                <a:sym typeface="Urbanist"/>
              </a:rPr>
              <a:t>Comprehensive Prompting:</a:t>
            </a:r>
            <a:r>
              <a:rPr lang="en-US" sz="1425" b="0" i="0" u="none" strike="noStrike" cap="none">
                <a:solidFill>
                  <a:srgbClr val="94A3B8"/>
                </a:solidFill>
                <a:latin typeface="Urbanist"/>
                <a:ea typeface="Urbanist"/>
                <a:cs typeface="Urbanist"/>
                <a:sym typeface="Urbanist"/>
              </a:rPr>
              <a:t> The vast context ceiling accommodates extensive text sections retrieved from the manuals without context degradation.</a:t>
            </a:r>
            <a:endParaRPr/>
          </a:p>
        </p:txBody>
      </p:sp>
      <p:pic>
        <p:nvPicPr>
          <p:cNvPr id="150" name="Google Shape;150;p16" descr="image.png"/>
          <p:cNvPicPr preferRelativeResize="0"/>
          <p:nvPr/>
        </p:nvPicPr>
        <p:blipFill rotWithShape="1">
          <a:blip r:embed="rId4">
            <a:alphaModFix/>
          </a:blip>
          <a:srcRect/>
          <a:stretch/>
        </p:blipFill>
        <p:spPr>
          <a:xfrm>
            <a:off x="3438525" y="3239541"/>
            <a:ext cx="228600" cy="247650"/>
          </a:xfrm>
          <a:prstGeom prst="rect">
            <a:avLst/>
          </a:prstGeom>
          <a:noFill/>
          <a:ln>
            <a:noFill/>
          </a:ln>
        </p:spPr>
      </p:pic>
      <p:pic>
        <p:nvPicPr>
          <p:cNvPr id="151" name="Google Shape;151;p16" descr="image.png"/>
          <p:cNvPicPr preferRelativeResize="0"/>
          <p:nvPr/>
        </p:nvPicPr>
        <p:blipFill rotWithShape="1">
          <a:blip r:embed="rId5">
            <a:alphaModFix/>
          </a:blip>
          <a:srcRect/>
          <a:stretch/>
        </p:blipFill>
        <p:spPr>
          <a:xfrm>
            <a:off x="3438525" y="4008983"/>
            <a:ext cx="200025" cy="247650"/>
          </a:xfrm>
          <a:prstGeom prst="rect">
            <a:avLst/>
          </a:prstGeom>
          <a:noFill/>
          <a:ln>
            <a:noFill/>
          </a:ln>
        </p:spPr>
      </p:pic>
      <p:pic>
        <p:nvPicPr>
          <p:cNvPr id="152" name="Google Shape;152;p16" descr="image.png"/>
          <p:cNvPicPr preferRelativeResize="0"/>
          <p:nvPr/>
        </p:nvPicPr>
        <p:blipFill rotWithShape="1">
          <a:blip r:embed="rId6">
            <a:alphaModFix/>
          </a:blip>
          <a:srcRect/>
          <a:stretch/>
        </p:blipFill>
        <p:spPr>
          <a:xfrm>
            <a:off x="3438525" y="4488953"/>
            <a:ext cx="200025" cy="247650"/>
          </a:xfrm>
          <a:prstGeom prst="rect">
            <a:avLst/>
          </a:prstGeom>
          <a:noFill/>
          <a:ln>
            <a:noFill/>
          </a:ln>
        </p:spPr>
      </p:pic>
      <p:sp>
        <p:nvSpPr>
          <p:cNvPr id="153" name="Google Shape;153;p16"/>
          <p:cNvSpPr txBox="1"/>
          <p:nvPr/>
        </p:nvSpPr>
        <p:spPr>
          <a:xfrm>
            <a:off x="771525" y="581025"/>
            <a:ext cx="11381422" cy="4342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FFFFFF"/>
                </a:solidFill>
                <a:latin typeface="Urbanist"/>
                <a:ea typeface="Urbanist"/>
                <a:cs typeface="Urbanist"/>
                <a:sym typeface="Urbanist"/>
              </a:rPr>
              <a:t>PRIMARY MODEL SELECTION</a:t>
            </a:r>
            <a:endParaRPr/>
          </a:p>
        </p:txBody>
      </p:sp>
      <p:sp>
        <p:nvSpPr>
          <p:cNvPr id="154" name="Google Shape;154;p16"/>
          <p:cNvSpPr/>
          <p:nvPr/>
        </p:nvSpPr>
        <p:spPr>
          <a:xfrm>
            <a:off x="581025" y="581025"/>
            <a:ext cx="57150" cy="434280"/>
          </a:xfrm>
          <a:prstGeom prst="rect">
            <a:avLst/>
          </a:prstGeom>
          <a:solidFill>
            <a:srgbClr val="22C5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329"/>
        </a:solidFill>
        <a:effectLst/>
      </p:bgPr>
    </p:bg>
    <p:spTree>
      <p:nvGrpSpPr>
        <p:cNvPr id="1" name="Shape 158"/>
        <p:cNvGrpSpPr/>
        <p:nvPr/>
      </p:nvGrpSpPr>
      <p:grpSpPr>
        <a:xfrm>
          <a:off x="0" y="0"/>
          <a:ext cx="0" cy="0"/>
          <a:chOff x="0" y="0"/>
          <a:chExt cx="0" cy="0"/>
        </a:xfrm>
      </p:grpSpPr>
      <p:pic>
        <p:nvPicPr>
          <p:cNvPr id="160" name="Google Shape;160;p17" descr="image.png"/>
          <p:cNvPicPr preferRelativeResize="0"/>
          <p:nvPr/>
        </p:nvPicPr>
        <p:blipFill rotWithShape="1">
          <a:blip r:embed="rId3">
            <a:alphaModFix/>
          </a:blip>
          <a:srcRect/>
          <a:stretch/>
        </p:blipFill>
        <p:spPr>
          <a:xfrm>
            <a:off x="581025" y="2274540"/>
            <a:ext cx="2614612" cy="2524125"/>
          </a:xfrm>
          <a:prstGeom prst="rect">
            <a:avLst/>
          </a:prstGeom>
          <a:noFill/>
          <a:ln>
            <a:noFill/>
          </a:ln>
        </p:spPr>
      </p:pic>
      <p:pic>
        <p:nvPicPr>
          <p:cNvPr id="161" name="Google Shape;161;p17" descr="image.png"/>
          <p:cNvPicPr preferRelativeResize="0"/>
          <p:nvPr/>
        </p:nvPicPr>
        <p:blipFill rotWithShape="1">
          <a:blip r:embed="rId4">
            <a:alphaModFix/>
          </a:blip>
          <a:srcRect/>
          <a:stretch/>
        </p:blipFill>
        <p:spPr>
          <a:xfrm>
            <a:off x="3386137" y="2274540"/>
            <a:ext cx="2614612" cy="2524125"/>
          </a:xfrm>
          <a:prstGeom prst="rect">
            <a:avLst/>
          </a:prstGeom>
          <a:noFill/>
          <a:ln>
            <a:noFill/>
          </a:ln>
        </p:spPr>
      </p:pic>
      <p:pic>
        <p:nvPicPr>
          <p:cNvPr id="162" name="Google Shape;162;p17" descr="image.png"/>
          <p:cNvPicPr preferRelativeResize="0"/>
          <p:nvPr/>
        </p:nvPicPr>
        <p:blipFill rotWithShape="1">
          <a:blip r:embed="rId4">
            <a:alphaModFix/>
          </a:blip>
          <a:srcRect/>
          <a:stretch/>
        </p:blipFill>
        <p:spPr>
          <a:xfrm>
            <a:off x="6191250" y="2274540"/>
            <a:ext cx="2614612" cy="2524125"/>
          </a:xfrm>
          <a:prstGeom prst="rect">
            <a:avLst/>
          </a:prstGeom>
          <a:noFill/>
          <a:ln>
            <a:noFill/>
          </a:ln>
        </p:spPr>
      </p:pic>
      <p:pic>
        <p:nvPicPr>
          <p:cNvPr id="163" name="Google Shape;163;p17" descr="image.png"/>
          <p:cNvPicPr preferRelativeResize="0"/>
          <p:nvPr/>
        </p:nvPicPr>
        <p:blipFill rotWithShape="1">
          <a:blip r:embed="rId5">
            <a:alphaModFix/>
          </a:blip>
          <a:srcRect/>
          <a:stretch/>
        </p:blipFill>
        <p:spPr>
          <a:xfrm>
            <a:off x="8996362" y="2274540"/>
            <a:ext cx="2614612" cy="2524125"/>
          </a:xfrm>
          <a:prstGeom prst="rect">
            <a:avLst/>
          </a:prstGeom>
          <a:noFill/>
          <a:ln>
            <a:noFill/>
          </a:ln>
        </p:spPr>
      </p:pic>
      <p:pic>
        <p:nvPicPr>
          <p:cNvPr id="164" name="Google Shape;164;p17" descr="image.png"/>
          <p:cNvPicPr preferRelativeResize="0"/>
          <p:nvPr/>
        </p:nvPicPr>
        <p:blipFill rotWithShape="1">
          <a:blip r:embed="rId6">
            <a:alphaModFix/>
          </a:blip>
          <a:srcRect/>
          <a:stretch/>
        </p:blipFill>
        <p:spPr>
          <a:xfrm>
            <a:off x="581025" y="5962650"/>
            <a:ext cx="11029950" cy="314325"/>
          </a:xfrm>
          <a:prstGeom prst="rect">
            <a:avLst/>
          </a:prstGeom>
          <a:noFill/>
          <a:ln>
            <a:noFill/>
          </a:ln>
        </p:spPr>
      </p:pic>
      <p:sp>
        <p:nvSpPr>
          <p:cNvPr id="165" name="Google Shape;165;p17"/>
          <p:cNvSpPr txBox="1"/>
          <p:nvPr/>
        </p:nvSpPr>
        <p:spPr>
          <a:xfrm>
            <a:off x="581024" y="6115050"/>
            <a:ext cx="76009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dirty="0">
                <a:solidFill>
                  <a:srgbClr val="22C55E"/>
                </a:solidFill>
                <a:latin typeface="Urbanist"/>
                <a:ea typeface="Urbanist"/>
                <a:cs typeface="Urbanist"/>
                <a:sym typeface="Urbanist"/>
              </a:rPr>
              <a:t>CLARILUX</a:t>
            </a:r>
            <a:endParaRPr dirty="0"/>
          </a:p>
        </p:txBody>
      </p:sp>
      <p:sp>
        <p:nvSpPr>
          <p:cNvPr id="166" name="Google Shape;166;p17"/>
          <p:cNvSpPr txBox="1"/>
          <p:nvPr/>
        </p:nvSpPr>
        <p:spPr>
          <a:xfrm>
            <a:off x="10953750" y="6115050"/>
            <a:ext cx="65722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75569"/>
                </a:solidFill>
                <a:latin typeface="Urbanist"/>
                <a:ea typeface="Urbanist"/>
                <a:cs typeface="Urbanist"/>
                <a:sym typeface="Urbanist"/>
              </a:rPr>
              <a:t>Slide 5 of 11</a:t>
            </a:r>
            <a:endParaRPr/>
          </a:p>
        </p:txBody>
      </p:sp>
      <p:sp>
        <p:nvSpPr>
          <p:cNvPr id="167" name="Google Shape;167;p17"/>
          <p:cNvSpPr txBox="1"/>
          <p:nvPr/>
        </p:nvSpPr>
        <p:spPr>
          <a:xfrm>
            <a:off x="765690" y="3217515"/>
            <a:ext cx="2245280"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0" i="0" u="none" strike="noStrike" cap="none">
                <a:solidFill>
                  <a:srgbClr val="F8FAFC"/>
                </a:solidFill>
                <a:latin typeface="Urbanist SemiBold"/>
                <a:ea typeface="Urbanist SemiBold"/>
                <a:cs typeface="Urbanist SemiBold"/>
                <a:sym typeface="Urbanist SemiBold"/>
              </a:rPr>
              <a:t>LangChain</a:t>
            </a:r>
            <a:endParaRPr/>
          </a:p>
        </p:txBody>
      </p:sp>
      <p:sp>
        <p:nvSpPr>
          <p:cNvPr id="168" name="Google Shape;168;p17"/>
          <p:cNvSpPr txBox="1"/>
          <p:nvPr/>
        </p:nvSpPr>
        <p:spPr>
          <a:xfrm>
            <a:off x="819150" y="3588990"/>
            <a:ext cx="2138362" cy="9144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94A3B8"/>
                </a:solidFill>
                <a:latin typeface="Urbanist"/>
                <a:ea typeface="Urbanist"/>
                <a:cs typeface="Urbanist"/>
                <a:sym typeface="Urbanist"/>
              </a:rPr>
              <a:t>Orchestrates the prompt blueprints, managing RAG logic sequences cleanly without manual pipeline scripts.</a:t>
            </a:r>
            <a:endParaRPr/>
          </a:p>
        </p:txBody>
      </p:sp>
      <p:sp>
        <p:nvSpPr>
          <p:cNvPr id="169" name="Google Shape;169;p17"/>
          <p:cNvSpPr txBox="1"/>
          <p:nvPr/>
        </p:nvSpPr>
        <p:spPr>
          <a:xfrm>
            <a:off x="3570803" y="3217515"/>
            <a:ext cx="2245280"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0" i="0" u="none" strike="noStrike" cap="none">
                <a:solidFill>
                  <a:srgbClr val="F8FAFC"/>
                </a:solidFill>
                <a:latin typeface="Urbanist SemiBold"/>
                <a:ea typeface="Urbanist SemiBold"/>
                <a:cs typeface="Urbanist SemiBold"/>
                <a:sym typeface="Urbanist SemiBold"/>
              </a:rPr>
              <a:t>PyPDF</a:t>
            </a:r>
            <a:endParaRPr/>
          </a:p>
        </p:txBody>
      </p:sp>
      <p:sp>
        <p:nvSpPr>
          <p:cNvPr id="170" name="Google Shape;170;p17"/>
          <p:cNvSpPr txBox="1"/>
          <p:nvPr/>
        </p:nvSpPr>
        <p:spPr>
          <a:xfrm>
            <a:off x="3624262" y="3588990"/>
            <a:ext cx="2138362" cy="9144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94A3B8"/>
                </a:solidFill>
                <a:latin typeface="Urbanist"/>
                <a:ea typeface="Urbanist"/>
                <a:cs typeface="Urbanist"/>
                <a:sym typeface="Urbanist"/>
              </a:rPr>
              <a:t>Acts as the local document parser, stripping structured text from raw user guides sequentially.</a:t>
            </a:r>
            <a:endParaRPr/>
          </a:p>
        </p:txBody>
      </p:sp>
      <p:sp>
        <p:nvSpPr>
          <p:cNvPr id="171" name="Google Shape;171;p17"/>
          <p:cNvSpPr txBox="1"/>
          <p:nvPr/>
        </p:nvSpPr>
        <p:spPr>
          <a:xfrm>
            <a:off x="6375915" y="3217515"/>
            <a:ext cx="2245280"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0" i="0" u="none" strike="noStrike" cap="none">
                <a:solidFill>
                  <a:srgbClr val="F8FAFC"/>
                </a:solidFill>
                <a:latin typeface="Urbanist SemiBold"/>
                <a:ea typeface="Urbanist SemiBold"/>
                <a:cs typeface="Urbanist SemiBold"/>
                <a:sym typeface="Urbanist SemiBold"/>
              </a:rPr>
              <a:t>SentenceTransformers</a:t>
            </a:r>
            <a:endParaRPr/>
          </a:p>
        </p:txBody>
      </p:sp>
      <p:sp>
        <p:nvSpPr>
          <p:cNvPr id="172" name="Google Shape;172;p17"/>
          <p:cNvSpPr txBox="1"/>
          <p:nvPr/>
        </p:nvSpPr>
        <p:spPr>
          <a:xfrm>
            <a:off x="6429375" y="3588990"/>
            <a:ext cx="2138362" cy="6858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94A3B8"/>
                </a:solidFill>
                <a:latin typeface="Urbanist"/>
                <a:ea typeface="Urbanist"/>
                <a:cs typeface="Urbanist"/>
                <a:sym typeface="Urbanist"/>
              </a:rPr>
              <a:t>Translates paragraphs into high-density coordinates to evaluate human query intents.</a:t>
            </a:r>
            <a:endParaRPr/>
          </a:p>
        </p:txBody>
      </p:sp>
      <p:sp>
        <p:nvSpPr>
          <p:cNvPr id="173" name="Google Shape;173;p17"/>
          <p:cNvSpPr txBox="1"/>
          <p:nvPr/>
        </p:nvSpPr>
        <p:spPr>
          <a:xfrm>
            <a:off x="9181028" y="3217515"/>
            <a:ext cx="2245280"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0" i="0" u="none" strike="noStrike" cap="none">
                <a:solidFill>
                  <a:srgbClr val="F8FAFC"/>
                </a:solidFill>
                <a:latin typeface="Urbanist SemiBold"/>
                <a:ea typeface="Urbanist SemiBold"/>
                <a:cs typeface="Urbanist SemiBold"/>
                <a:sym typeface="Urbanist SemiBold"/>
              </a:rPr>
              <a:t>ChromaDB</a:t>
            </a:r>
            <a:endParaRPr/>
          </a:p>
        </p:txBody>
      </p:sp>
      <p:sp>
        <p:nvSpPr>
          <p:cNvPr id="174" name="Google Shape;174;p17"/>
          <p:cNvSpPr txBox="1"/>
          <p:nvPr/>
        </p:nvSpPr>
        <p:spPr>
          <a:xfrm>
            <a:off x="9234487" y="3588990"/>
            <a:ext cx="2138362" cy="9144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94A3B8"/>
                </a:solidFill>
                <a:latin typeface="Urbanist"/>
                <a:ea typeface="Urbanist"/>
                <a:cs typeface="Urbanist"/>
                <a:sym typeface="Urbanist"/>
              </a:rPr>
              <a:t>Secures vector records persistently, facilitating lightning-fast semantic queries in the filesystem.</a:t>
            </a:r>
            <a:endParaRPr/>
          </a:p>
        </p:txBody>
      </p:sp>
      <p:pic>
        <p:nvPicPr>
          <p:cNvPr id="175" name="Google Shape;175;p17" descr="image.png"/>
          <p:cNvPicPr preferRelativeResize="0"/>
          <p:nvPr/>
        </p:nvPicPr>
        <p:blipFill rotWithShape="1">
          <a:blip r:embed="rId7">
            <a:alphaModFix/>
          </a:blip>
          <a:srcRect/>
          <a:stretch/>
        </p:blipFill>
        <p:spPr>
          <a:xfrm>
            <a:off x="1650206" y="2598390"/>
            <a:ext cx="476250" cy="381000"/>
          </a:xfrm>
          <a:prstGeom prst="rect">
            <a:avLst/>
          </a:prstGeom>
          <a:noFill/>
          <a:ln>
            <a:noFill/>
          </a:ln>
        </p:spPr>
      </p:pic>
      <p:pic>
        <p:nvPicPr>
          <p:cNvPr id="176" name="Google Shape;176;p17" descr="image.png"/>
          <p:cNvPicPr preferRelativeResize="0"/>
          <p:nvPr/>
        </p:nvPicPr>
        <p:blipFill rotWithShape="1">
          <a:blip r:embed="rId8">
            <a:alphaModFix/>
          </a:blip>
          <a:srcRect/>
          <a:stretch/>
        </p:blipFill>
        <p:spPr>
          <a:xfrm>
            <a:off x="4502943" y="2598390"/>
            <a:ext cx="381000" cy="381000"/>
          </a:xfrm>
          <a:prstGeom prst="rect">
            <a:avLst/>
          </a:prstGeom>
          <a:noFill/>
          <a:ln>
            <a:noFill/>
          </a:ln>
        </p:spPr>
      </p:pic>
      <p:pic>
        <p:nvPicPr>
          <p:cNvPr id="177" name="Google Shape;177;p17" descr="image.png"/>
          <p:cNvPicPr preferRelativeResize="0"/>
          <p:nvPr/>
        </p:nvPicPr>
        <p:blipFill rotWithShape="1">
          <a:blip r:embed="rId9">
            <a:alphaModFix/>
          </a:blip>
          <a:srcRect/>
          <a:stretch/>
        </p:blipFill>
        <p:spPr>
          <a:xfrm>
            <a:off x="7308056" y="2598390"/>
            <a:ext cx="381000" cy="381000"/>
          </a:xfrm>
          <a:prstGeom prst="rect">
            <a:avLst/>
          </a:prstGeom>
          <a:noFill/>
          <a:ln>
            <a:noFill/>
          </a:ln>
        </p:spPr>
      </p:pic>
      <p:pic>
        <p:nvPicPr>
          <p:cNvPr id="178" name="Google Shape;178;p17" descr="image.png"/>
          <p:cNvPicPr preferRelativeResize="0"/>
          <p:nvPr/>
        </p:nvPicPr>
        <p:blipFill rotWithShape="1">
          <a:blip r:embed="rId10">
            <a:alphaModFix/>
          </a:blip>
          <a:srcRect/>
          <a:stretch/>
        </p:blipFill>
        <p:spPr>
          <a:xfrm>
            <a:off x="10113168" y="2598390"/>
            <a:ext cx="381000" cy="381000"/>
          </a:xfrm>
          <a:prstGeom prst="rect">
            <a:avLst/>
          </a:prstGeom>
          <a:noFill/>
          <a:ln>
            <a:noFill/>
          </a:ln>
        </p:spPr>
      </p:pic>
      <p:sp>
        <p:nvSpPr>
          <p:cNvPr id="179" name="Google Shape;179;p17"/>
          <p:cNvSpPr txBox="1"/>
          <p:nvPr/>
        </p:nvSpPr>
        <p:spPr>
          <a:xfrm>
            <a:off x="771525" y="581025"/>
            <a:ext cx="11381422" cy="4342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FFFFFF"/>
                </a:solidFill>
                <a:latin typeface="Urbanist"/>
                <a:ea typeface="Urbanist"/>
                <a:cs typeface="Urbanist"/>
                <a:sym typeface="Urbanist"/>
              </a:rPr>
              <a:t>SYSTEM ECOSYSTEM</a:t>
            </a:r>
            <a:endParaRPr/>
          </a:p>
        </p:txBody>
      </p:sp>
      <p:sp>
        <p:nvSpPr>
          <p:cNvPr id="180" name="Google Shape;180;p17"/>
          <p:cNvSpPr/>
          <p:nvPr/>
        </p:nvSpPr>
        <p:spPr>
          <a:xfrm>
            <a:off x="581025" y="581025"/>
            <a:ext cx="57150" cy="434280"/>
          </a:xfrm>
          <a:prstGeom prst="rect">
            <a:avLst/>
          </a:prstGeom>
          <a:solidFill>
            <a:srgbClr val="22C5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329"/>
        </a:solidFill>
        <a:effectLst/>
      </p:bgPr>
    </p:bg>
    <p:spTree>
      <p:nvGrpSpPr>
        <p:cNvPr id="1" name="Shape 184"/>
        <p:cNvGrpSpPr/>
        <p:nvPr/>
      </p:nvGrpSpPr>
      <p:grpSpPr>
        <a:xfrm>
          <a:off x="0" y="0"/>
          <a:ext cx="0" cy="0"/>
          <a:chOff x="0" y="0"/>
          <a:chExt cx="0" cy="0"/>
        </a:xfrm>
      </p:grpSpPr>
      <p:pic>
        <p:nvPicPr>
          <p:cNvPr id="186" name="Google Shape;186;p18" descr="image.png"/>
          <p:cNvPicPr preferRelativeResize="0"/>
          <p:nvPr/>
        </p:nvPicPr>
        <p:blipFill rotWithShape="1">
          <a:blip r:embed="rId3">
            <a:alphaModFix/>
          </a:blip>
          <a:srcRect/>
          <a:stretch/>
        </p:blipFill>
        <p:spPr>
          <a:xfrm>
            <a:off x="581025" y="1731615"/>
            <a:ext cx="4791967" cy="1709737"/>
          </a:xfrm>
          <a:prstGeom prst="rect">
            <a:avLst/>
          </a:prstGeom>
          <a:noFill/>
          <a:ln>
            <a:noFill/>
          </a:ln>
        </p:spPr>
      </p:pic>
      <p:pic>
        <p:nvPicPr>
          <p:cNvPr id="187" name="Google Shape;187;p18" descr="image.png"/>
          <p:cNvPicPr preferRelativeResize="0"/>
          <p:nvPr/>
        </p:nvPicPr>
        <p:blipFill rotWithShape="1">
          <a:blip r:embed="rId4">
            <a:alphaModFix/>
          </a:blip>
          <a:srcRect/>
          <a:stretch/>
        </p:blipFill>
        <p:spPr>
          <a:xfrm>
            <a:off x="581025" y="3631852"/>
            <a:ext cx="4791967" cy="1709737"/>
          </a:xfrm>
          <a:prstGeom prst="rect">
            <a:avLst/>
          </a:prstGeom>
          <a:noFill/>
          <a:ln>
            <a:noFill/>
          </a:ln>
        </p:spPr>
      </p:pic>
      <p:pic>
        <p:nvPicPr>
          <p:cNvPr id="188" name="Google Shape;188;p18" descr="image.png"/>
          <p:cNvPicPr preferRelativeResize="0"/>
          <p:nvPr/>
        </p:nvPicPr>
        <p:blipFill rotWithShape="1">
          <a:blip r:embed="rId5">
            <a:alphaModFix/>
          </a:blip>
          <a:srcRect/>
          <a:stretch/>
        </p:blipFill>
        <p:spPr>
          <a:xfrm>
            <a:off x="581025" y="5962650"/>
            <a:ext cx="11029950" cy="314325"/>
          </a:xfrm>
          <a:prstGeom prst="rect">
            <a:avLst/>
          </a:prstGeom>
          <a:noFill/>
          <a:ln>
            <a:noFill/>
          </a:ln>
        </p:spPr>
      </p:pic>
      <p:sp>
        <p:nvSpPr>
          <p:cNvPr id="189" name="Google Shape;189;p18"/>
          <p:cNvSpPr txBox="1"/>
          <p:nvPr/>
        </p:nvSpPr>
        <p:spPr>
          <a:xfrm>
            <a:off x="581025" y="6115050"/>
            <a:ext cx="657224"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dirty="0">
                <a:solidFill>
                  <a:srgbClr val="22C55E"/>
                </a:solidFill>
                <a:latin typeface="Urbanist"/>
                <a:ea typeface="Urbanist"/>
                <a:cs typeface="Urbanist"/>
                <a:sym typeface="Urbanist"/>
              </a:rPr>
              <a:t>CLARILUX</a:t>
            </a:r>
            <a:endParaRPr dirty="0"/>
          </a:p>
        </p:txBody>
      </p:sp>
      <p:sp>
        <p:nvSpPr>
          <p:cNvPr id="190" name="Google Shape;190;p18"/>
          <p:cNvSpPr txBox="1"/>
          <p:nvPr/>
        </p:nvSpPr>
        <p:spPr>
          <a:xfrm>
            <a:off x="10953750" y="6115050"/>
            <a:ext cx="65722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75569"/>
                </a:solidFill>
                <a:latin typeface="Urbanist"/>
                <a:ea typeface="Urbanist"/>
                <a:cs typeface="Urbanist"/>
                <a:sym typeface="Urbanist"/>
              </a:rPr>
              <a:t>Slide 6 of 11</a:t>
            </a:r>
            <a:endParaRPr/>
          </a:p>
        </p:txBody>
      </p:sp>
      <p:sp>
        <p:nvSpPr>
          <p:cNvPr id="191" name="Google Shape;191;p18"/>
          <p:cNvSpPr txBox="1"/>
          <p:nvPr/>
        </p:nvSpPr>
        <p:spPr>
          <a:xfrm>
            <a:off x="5753992" y="2309812"/>
            <a:ext cx="6149831"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a:solidFill>
                  <a:srgbClr val="38BDF8"/>
                </a:solidFill>
                <a:latin typeface="Urbanist SemiBold"/>
                <a:ea typeface="Urbanist SemiBold"/>
                <a:cs typeface="Urbanist SemiBold"/>
                <a:sym typeface="Urbanist SemiBold"/>
              </a:rPr>
              <a:t>Why Vector Space Dimensions Matter</a:t>
            </a:r>
            <a:endParaRPr dirty="0"/>
          </a:p>
        </p:txBody>
      </p:sp>
      <p:sp>
        <p:nvSpPr>
          <p:cNvPr id="192" name="Google Shape;192;p18"/>
          <p:cNvSpPr txBox="1"/>
          <p:nvPr/>
        </p:nvSpPr>
        <p:spPr>
          <a:xfrm>
            <a:off x="5753992" y="2700337"/>
            <a:ext cx="5856982" cy="199439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solidFill>
                  <a:srgbClr val="94A3B8"/>
                </a:solidFill>
                <a:latin typeface="Urbanist"/>
                <a:ea typeface="Urbanist"/>
                <a:cs typeface="Urbanist"/>
                <a:sym typeface="Urbanist"/>
              </a:rPr>
              <a:t>Instead of relying on keyword matching, text is converted into numerical vectors that capture meaning. This allows sentences with similar meanings, such as "How to sign in?" and "Accessing the login portal", to be grouped closely together even if they use different words. Using 384 dimensions keeps the vectors compact, allowing ChromaDB to compare similarities quickly while maintaining efficient storage and good performance on local systems.</a:t>
            </a:r>
            <a:endParaRPr lang="en-US" sz="1200" dirty="0"/>
          </a:p>
        </p:txBody>
      </p:sp>
      <p:sp>
        <p:nvSpPr>
          <p:cNvPr id="194" name="Google Shape;194;p18"/>
          <p:cNvSpPr txBox="1"/>
          <p:nvPr/>
        </p:nvSpPr>
        <p:spPr>
          <a:xfrm>
            <a:off x="876300" y="2026890"/>
            <a:ext cx="4411488" cy="276225"/>
          </a:xfrm>
          <a:prstGeom prst="rect">
            <a:avLst/>
          </a:prstGeom>
          <a:noFill/>
          <a:ln>
            <a:noFill/>
          </a:ln>
        </p:spPr>
        <p:txBody>
          <a:bodyPr spcFirstLastPara="1" wrap="square" lIns="228600" tIns="0" rIns="0" bIns="0" anchor="t" anchorCtr="0">
            <a:spAutoFit/>
          </a:bodyPr>
          <a:lstStyle/>
          <a:p>
            <a:pPr marL="0" marR="0" lvl="0" indent="0" algn="l" rtl="0">
              <a:spcBef>
                <a:spcPts val="0"/>
              </a:spcBef>
              <a:spcAft>
                <a:spcPts val="0"/>
              </a:spcAft>
              <a:buNone/>
            </a:pPr>
            <a:r>
              <a:rPr lang="en-US" sz="1800" b="0" i="0" u="none" strike="noStrike" cap="none" dirty="0">
                <a:solidFill>
                  <a:srgbClr val="22C55E"/>
                </a:solidFill>
                <a:latin typeface="Urbanist SemiBold"/>
                <a:ea typeface="Urbanist SemiBold"/>
                <a:cs typeface="Urbanist SemiBold"/>
                <a:sym typeface="Urbanist SemiBold"/>
              </a:rPr>
              <a:t>all-MiniLM-L6-v2</a:t>
            </a:r>
            <a:endParaRPr dirty="0"/>
          </a:p>
        </p:txBody>
      </p:sp>
      <p:sp>
        <p:nvSpPr>
          <p:cNvPr id="195" name="Google Shape;195;p18"/>
          <p:cNvSpPr txBox="1"/>
          <p:nvPr/>
        </p:nvSpPr>
        <p:spPr>
          <a:xfrm>
            <a:off x="876300" y="2417415"/>
            <a:ext cx="4201417" cy="728662"/>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dirty="0">
                <a:solidFill>
                  <a:srgbClr val="94A3B8"/>
                </a:solidFill>
                <a:latin typeface="Urbanist"/>
                <a:ea typeface="Urbanist"/>
                <a:cs typeface="Urbanist"/>
                <a:sym typeface="Urbanist"/>
              </a:rPr>
              <a:t>Extremely lightweight (~80MB footprint) CPU-friendly transformer. It computes coordinates instantly, rendering expensive GPUs redundant on local host machines.</a:t>
            </a:r>
            <a:endParaRPr dirty="0"/>
          </a:p>
        </p:txBody>
      </p:sp>
      <p:sp>
        <p:nvSpPr>
          <p:cNvPr id="196" name="Google Shape;196;p18"/>
          <p:cNvSpPr txBox="1"/>
          <p:nvPr/>
        </p:nvSpPr>
        <p:spPr>
          <a:xfrm>
            <a:off x="876300" y="3927127"/>
            <a:ext cx="4411488" cy="276225"/>
          </a:xfrm>
          <a:prstGeom prst="rect">
            <a:avLst/>
          </a:prstGeom>
          <a:noFill/>
          <a:ln>
            <a:noFill/>
          </a:ln>
        </p:spPr>
        <p:txBody>
          <a:bodyPr spcFirstLastPara="1" wrap="square" lIns="228600" tIns="0" rIns="0" bIns="0" anchor="t" anchorCtr="0">
            <a:spAutoFit/>
          </a:bodyPr>
          <a:lstStyle/>
          <a:p>
            <a:pPr marL="0" marR="0" lvl="0" indent="0" algn="l" rtl="0">
              <a:spcBef>
                <a:spcPts val="0"/>
              </a:spcBef>
              <a:spcAft>
                <a:spcPts val="0"/>
              </a:spcAft>
              <a:buNone/>
            </a:pPr>
            <a:r>
              <a:rPr lang="en-US" sz="1800" b="0" i="0" u="none" strike="noStrike" cap="none">
                <a:solidFill>
                  <a:srgbClr val="06B6D4"/>
                </a:solidFill>
                <a:latin typeface="Urbanist SemiBold"/>
                <a:ea typeface="Urbanist SemiBold"/>
                <a:cs typeface="Urbanist SemiBold"/>
                <a:sym typeface="Urbanist SemiBold"/>
              </a:rPr>
              <a:t>384-D Vector Space</a:t>
            </a:r>
            <a:endParaRPr/>
          </a:p>
        </p:txBody>
      </p:sp>
      <p:sp>
        <p:nvSpPr>
          <p:cNvPr id="197" name="Google Shape;197;p18"/>
          <p:cNvSpPr txBox="1"/>
          <p:nvPr/>
        </p:nvSpPr>
        <p:spPr>
          <a:xfrm>
            <a:off x="876300" y="4317652"/>
            <a:ext cx="4201417" cy="728662"/>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a:solidFill>
                  <a:srgbClr val="94A3B8"/>
                </a:solidFill>
                <a:latin typeface="Urbanist"/>
                <a:ea typeface="Urbanist"/>
                <a:cs typeface="Urbanist"/>
                <a:sym typeface="Urbanist"/>
              </a:rPr>
              <a:t>Maps text onto a 384-coordinate system. Balances fine-grained semantic clarity with minimal memory requirements to keep lookup indices snappy and accurate.</a:t>
            </a:r>
            <a:endParaRPr/>
          </a:p>
        </p:txBody>
      </p:sp>
      <p:pic>
        <p:nvPicPr>
          <p:cNvPr id="198" name="Google Shape;198;p18" descr="image.png"/>
          <p:cNvPicPr preferRelativeResize="0"/>
          <p:nvPr/>
        </p:nvPicPr>
        <p:blipFill rotWithShape="1">
          <a:blip r:embed="rId6">
            <a:alphaModFix/>
          </a:blip>
          <a:srcRect/>
          <a:stretch/>
        </p:blipFill>
        <p:spPr>
          <a:xfrm>
            <a:off x="876300" y="2045940"/>
            <a:ext cx="228600" cy="228600"/>
          </a:xfrm>
          <a:prstGeom prst="rect">
            <a:avLst/>
          </a:prstGeom>
          <a:noFill/>
          <a:ln>
            <a:noFill/>
          </a:ln>
        </p:spPr>
      </p:pic>
      <p:pic>
        <p:nvPicPr>
          <p:cNvPr id="199" name="Google Shape;199;p18" descr="image.png"/>
          <p:cNvPicPr preferRelativeResize="0"/>
          <p:nvPr/>
        </p:nvPicPr>
        <p:blipFill rotWithShape="1">
          <a:blip r:embed="rId7">
            <a:alphaModFix/>
          </a:blip>
          <a:srcRect/>
          <a:stretch/>
        </p:blipFill>
        <p:spPr>
          <a:xfrm>
            <a:off x="876300" y="3946177"/>
            <a:ext cx="228600" cy="228600"/>
          </a:xfrm>
          <a:prstGeom prst="rect">
            <a:avLst/>
          </a:prstGeom>
          <a:noFill/>
          <a:ln>
            <a:noFill/>
          </a:ln>
        </p:spPr>
      </p:pic>
      <p:sp>
        <p:nvSpPr>
          <p:cNvPr id="200" name="Google Shape;200;p18"/>
          <p:cNvSpPr txBox="1"/>
          <p:nvPr/>
        </p:nvSpPr>
        <p:spPr>
          <a:xfrm>
            <a:off x="771525" y="581025"/>
            <a:ext cx="11381422"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dirty="0">
                <a:solidFill>
                  <a:srgbClr val="FFFFFF"/>
                </a:solidFill>
                <a:latin typeface="Urbanist"/>
                <a:ea typeface="Urbanist"/>
                <a:cs typeface="Urbanist"/>
                <a:sym typeface="Urbanist"/>
              </a:rPr>
              <a:t>TEXT ANALYSIS MODULE</a:t>
            </a:r>
            <a:endParaRPr dirty="0"/>
          </a:p>
        </p:txBody>
      </p:sp>
      <p:sp>
        <p:nvSpPr>
          <p:cNvPr id="201" name="Google Shape;201;p18"/>
          <p:cNvSpPr/>
          <p:nvPr/>
        </p:nvSpPr>
        <p:spPr>
          <a:xfrm>
            <a:off x="581025" y="581025"/>
            <a:ext cx="57150" cy="434280"/>
          </a:xfrm>
          <a:prstGeom prst="rect">
            <a:avLst/>
          </a:prstGeom>
          <a:solidFill>
            <a:srgbClr val="22C5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329"/>
        </a:solidFill>
        <a:effectLst/>
      </p:bgPr>
    </p:bg>
    <p:spTree>
      <p:nvGrpSpPr>
        <p:cNvPr id="1" name="Shape 205"/>
        <p:cNvGrpSpPr/>
        <p:nvPr/>
      </p:nvGrpSpPr>
      <p:grpSpPr>
        <a:xfrm>
          <a:off x="0" y="0"/>
          <a:ext cx="0" cy="0"/>
          <a:chOff x="0" y="0"/>
          <a:chExt cx="0" cy="0"/>
        </a:xfrm>
      </p:grpSpPr>
      <p:pic>
        <p:nvPicPr>
          <p:cNvPr id="207" name="Google Shape;207;p19" descr="image.png"/>
          <p:cNvPicPr preferRelativeResize="0"/>
          <p:nvPr/>
        </p:nvPicPr>
        <p:blipFill rotWithShape="1">
          <a:blip r:embed="rId3">
            <a:alphaModFix/>
          </a:blip>
          <a:srcRect/>
          <a:stretch/>
        </p:blipFill>
        <p:spPr>
          <a:xfrm>
            <a:off x="581025" y="2155477"/>
            <a:ext cx="3549550" cy="2762250"/>
          </a:xfrm>
          <a:prstGeom prst="rect">
            <a:avLst/>
          </a:prstGeom>
          <a:noFill/>
          <a:ln>
            <a:noFill/>
          </a:ln>
        </p:spPr>
      </p:pic>
      <p:pic>
        <p:nvPicPr>
          <p:cNvPr id="208" name="Google Shape;208;p19" descr="image.png"/>
          <p:cNvPicPr preferRelativeResize="0"/>
          <p:nvPr/>
        </p:nvPicPr>
        <p:blipFill rotWithShape="1">
          <a:blip r:embed="rId4">
            <a:alphaModFix/>
          </a:blip>
          <a:srcRect/>
          <a:stretch/>
        </p:blipFill>
        <p:spPr>
          <a:xfrm>
            <a:off x="4321075" y="2155477"/>
            <a:ext cx="3549699" cy="2762250"/>
          </a:xfrm>
          <a:prstGeom prst="rect">
            <a:avLst/>
          </a:prstGeom>
          <a:noFill/>
          <a:ln>
            <a:noFill/>
          </a:ln>
        </p:spPr>
      </p:pic>
      <p:pic>
        <p:nvPicPr>
          <p:cNvPr id="209" name="Google Shape;209;p19" descr="image.png"/>
          <p:cNvPicPr preferRelativeResize="0"/>
          <p:nvPr/>
        </p:nvPicPr>
        <p:blipFill rotWithShape="1">
          <a:blip r:embed="rId5">
            <a:alphaModFix/>
          </a:blip>
          <a:srcRect/>
          <a:stretch/>
        </p:blipFill>
        <p:spPr>
          <a:xfrm>
            <a:off x="8061275" y="2155477"/>
            <a:ext cx="3549550" cy="2762250"/>
          </a:xfrm>
          <a:prstGeom prst="rect">
            <a:avLst/>
          </a:prstGeom>
          <a:noFill/>
          <a:ln>
            <a:noFill/>
          </a:ln>
        </p:spPr>
      </p:pic>
      <p:pic>
        <p:nvPicPr>
          <p:cNvPr id="210" name="Google Shape;210;p19" descr="image.png"/>
          <p:cNvPicPr preferRelativeResize="0"/>
          <p:nvPr/>
        </p:nvPicPr>
        <p:blipFill rotWithShape="1">
          <a:blip r:embed="rId6">
            <a:alphaModFix/>
          </a:blip>
          <a:srcRect/>
          <a:stretch/>
        </p:blipFill>
        <p:spPr>
          <a:xfrm>
            <a:off x="581025" y="5962650"/>
            <a:ext cx="11029950" cy="314325"/>
          </a:xfrm>
          <a:prstGeom prst="rect">
            <a:avLst/>
          </a:prstGeom>
          <a:noFill/>
          <a:ln>
            <a:noFill/>
          </a:ln>
        </p:spPr>
      </p:pic>
      <p:sp>
        <p:nvSpPr>
          <p:cNvPr id="211" name="Google Shape;211;p19"/>
          <p:cNvSpPr txBox="1"/>
          <p:nvPr/>
        </p:nvSpPr>
        <p:spPr>
          <a:xfrm>
            <a:off x="581024" y="6115050"/>
            <a:ext cx="73977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dirty="0">
                <a:solidFill>
                  <a:srgbClr val="22C55E"/>
                </a:solidFill>
                <a:latin typeface="Urbanist"/>
                <a:ea typeface="Urbanist"/>
                <a:cs typeface="Urbanist"/>
                <a:sym typeface="Urbanist"/>
              </a:rPr>
              <a:t>CLARILUX</a:t>
            </a:r>
            <a:endParaRPr dirty="0"/>
          </a:p>
        </p:txBody>
      </p:sp>
      <p:sp>
        <p:nvSpPr>
          <p:cNvPr id="212" name="Google Shape;212;p19"/>
          <p:cNvSpPr txBox="1"/>
          <p:nvPr/>
        </p:nvSpPr>
        <p:spPr>
          <a:xfrm>
            <a:off x="10963275" y="6115050"/>
            <a:ext cx="6477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75569"/>
                </a:solidFill>
                <a:latin typeface="Urbanist"/>
                <a:ea typeface="Urbanist"/>
                <a:cs typeface="Urbanist"/>
                <a:sym typeface="Urbanist"/>
              </a:rPr>
              <a:t>Slide 7 of 11</a:t>
            </a:r>
            <a:endParaRPr/>
          </a:p>
        </p:txBody>
      </p:sp>
      <p:sp>
        <p:nvSpPr>
          <p:cNvPr id="213" name="Google Shape;213;p19"/>
          <p:cNvSpPr txBox="1"/>
          <p:nvPr/>
        </p:nvSpPr>
        <p:spPr>
          <a:xfrm>
            <a:off x="742317" y="3193702"/>
            <a:ext cx="3226965"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0" i="0" u="none" strike="noStrike" cap="none">
                <a:solidFill>
                  <a:srgbClr val="F8FAFC"/>
                </a:solidFill>
                <a:latin typeface="Urbanist SemiBold"/>
                <a:ea typeface="Urbanist SemiBold"/>
                <a:cs typeface="Urbanist SemiBold"/>
                <a:sym typeface="Urbanist SemiBold"/>
              </a:rPr>
              <a:t>1. Extract</a:t>
            </a:r>
            <a:endParaRPr/>
          </a:p>
        </p:txBody>
      </p:sp>
      <p:sp>
        <p:nvSpPr>
          <p:cNvPr id="214" name="Google Shape;214;p19"/>
          <p:cNvSpPr txBox="1"/>
          <p:nvPr/>
        </p:nvSpPr>
        <p:spPr>
          <a:xfrm>
            <a:off x="819150" y="3565177"/>
            <a:ext cx="3073300" cy="9144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1" i="0" u="none" strike="noStrike" cap="none">
                <a:solidFill>
                  <a:srgbClr val="F1F5F9"/>
                </a:solidFill>
                <a:latin typeface="Urbanist"/>
                <a:ea typeface="Urbanist"/>
                <a:cs typeface="Urbanist"/>
                <a:sym typeface="Urbanist"/>
              </a:rPr>
              <a:t>PyPDF</a:t>
            </a:r>
            <a:r>
              <a:rPr lang="en-US" sz="1200" b="0" i="0" u="none" strike="noStrike" cap="none">
                <a:solidFill>
                  <a:srgbClr val="94A3B8"/>
                </a:solidFill>
                <a:latin typeface="Urbanist"/>
                <a:ea typeface="Urbanist"/>
                <a:cs typeface="Urbanist"/>
                <a:sym typeface="Urbanist"/>
              </a:rPr>
              <a:t> sequentially reads </a:t>
            </a:r>
            <a:r>
              <a:rPr lang="en-US" sz="1200" b="0" i="1" u="none" strike="noStrike" cap="none">
                <a:solidFill>
                  <a:srgbClr val="94A3B8"/>
                </a:solidFill>
                <a:latin typeface="Urbanist"/>
                <a:ea typeface="Urbanist"/>
                <a:cs typeface="Urbanist"/>
                <a:sym typeface="Urbanist"/>
              </a:rPr>
              <a:t>Clarilux_User_Guide.pdf</a:t>
            </a:r>
            <a:r>
              <a:rPr lang="en-US" sz="1200" b="0" i="0" u="none" strike="noStrike" cap="none">
                <a:solidFill>
                  <a:srgbClr val="94A3B8"/>
                </a:solidFill>
                <a:latin typeface="Urbanist"/>
                <a:ea typeface="Urbanist"/>
                <a:cs typeface="Urbanist"/>
                <a:sym typeface="Urbanist"/>
              </a:rPr>
              <a:t>, generating a raw string mapping of structural manual text pages.</a:t>
            </a:r>
            <a:endParaRPr/>
          </a:p>
        </p:txBody>
      </p:sp>
      <p:sp>
        <p:nvSpPr>
          <p:cNvPr id="215" name="Google Shape;215;p19"/>
          <p:cNvSpPr txBox="1"/>
          <p:nvPr/>
        </p:nvSpPr>
        <p:spPr>
          <a:xfrm>
            <a:off x="4482364" y="3193702"/>
            <a:ext cx="3227122"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0" i="0" u="none" strike="noStrike" cap="none">
                <a:solidFill>
                  <a:srgbClr val="F8FAFC"/>
                </a:solidFill>
                <a:latin typeface="Urbanist SemiBold"/>
                <a:ea typeface="Urbanist SemiBold"/>
                <a:cs typeface="Urbanist SemiBold"/>
                <a:sym typeface="Urbanist SemiBold"/>
              </a:rPr>
              <a:t>2. Chunk &amp; Embed</a:t>
            </a:r>
            <a:endParaRPr/>
          </a:p>
        </p:txBody>
      </p:sp>
      <p:sp>
        <p:nvSpPr>
          <p:cNvPr id="216" name="Google Shape;216;p19"/>
          <p:cNvSpPr txBox="1"/>
          <p:nvPr/>
        </p:nvSpPr>
        <p:spPr>
          <a:xfrm>
            <a:off x="4559200" y="3565177"/>
            <a:ext cx="3073449" cy="9144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dirty="0">
                <a:solidFill>
                  <a:srgbClr val="94A3B8"/>
                </a:solidFill>
                <a:latin typeface="Urbanist"/>
                <a:ea typeface="Urbanist"/>
                <a:cs typeface="Urbanist"/>
                <a:sym typeface="Urbanist"/>
              </a:rPr>
              <a:t>Text is partitioned into 500-character blocks with 450-character overlaps, which are then vectorized into 384 dimensions via </a:t>
            </a:r>
            <a:r>
              <a:rPr lang="en-US" sz="1200" b="1" i="0" u="none" strike="noStrike" cap="none" dirty="0">
                <a:solidFill>
                  <a:srgbClr val="F1F5F9"/>
                </a:solidFill>
                <a:latin typeface="Urbanist"/>
                <a:ea typeface="Urbanist"/>
                <a:cs typeface="Urbanist"/>
                <a:sym typeface="Urbanist"/>
              </a:rPr>
              <a:t>all-MiniLM-L6-v2</a:t>
            </a:r>
            <a:r>
              <a:rPr lang="en-US" sz="1200" b="0" i="0" u="none" strike="noStrike" cap="none" dirty="0">
                <a:solidFill>
                  <a:srgbClr val="94A3B8"/>
                </a:solidFill>
                <a:latin typeface="Urbanist"/>
                <a:ea typeface="Urbanist"/>
                <a:cs typeface="Urbanist"/>
                <a:sym typeface="Urbanist"/>
              </a:rPr>
              <a:t>.</a:t>
            </a:r>
            <a:endParaRPr dirty="0"/>
          </a:p>
        </p:txBody>
      </p:sp>
      <p:sp>
        <p:nvSpPr>
          <p:cNvPr id="217" name="Google Shape;217;p19"/>
          <p:cNvSpPr txBox="1"/>
          <p:nvPr/>
        </p:nvSpPr>
        <p:spPr>
          <a:xfrm>
            <a:off x="8222567" y="3193702"/>
            <a:ext cx="3226965" cy="2571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0" i="0" u="none" strike="noStrike" cap="none">
                <a:solidFill>
                  <a:srgbClr val="F8FAFC"/>
                </a:solidFill>
                <a:latin typeface="Urbanist SemiBold"/>
                <a:ea typeface="Urbanist SemiBold"/>
                <a:cs typeface="Urbanist SemiBold"/>
                <a:sym typeface="Urbanist SemiBold"/>
              </a:rPr>
              <a:t>3. Persist</a:t>
            </a:r>
            <a:endParaRPr/>
          </a:p>
        </p:txBody>
      </p:sp>
      <p:sp>
        <p:nvSpPr>
          <p:cNvPr id="218" name="Google Shape;218;p19"/>
          <p:cNvSpPr txBox="1"/>
          <p:nvPr/>
        </p:nvSpPr>
        <p:spPr>
          <a:xfrm>
            <a:off x="8299400" y="3565177"/>
            <a:ext cx="3073300" cy="6858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dirty="0">
                <a:solidFill>
                  <a:srgbClr val="94A3B8"/>
                </a:solidFill>
                <a:latin typeface="Urbanist"/>
                <a:ea typeface="Urbanist"/>
                <a:cs typeface="Urbanist"/>
                <a:sym typeface="Urbanist"/>
              </a:rPr>
              <a:t>The backend saves embeddings directly into </a:t>
            </a:r>
            <a:r>
              <a:rPr lang="en-US" sz="1200" b="1" i="0" u="none" strike="noStrike" cap="none" dirty="0">
                <a:solidFill>
                  <a:srgbClr val="F1F5F9"/>
                </a:solidFill>
                <a:latin typeface="Urbanist"/>
                <a:ea typeface="Urbanist"/>
                <a:cs typeface="Urbanist"/>
                <a:sym typeface="Urbanist"/>
              </a:rPr>
              <a:t>ChromaDB</a:t>
            </a:r>
            <a:r>
              <a:rPr lang="en-US" sz="1200" b="0" i="0" u="none" strike="noStrike" cap="none" dirty="0">
                <a:solidFill>
                  <a:srgbClr val="94A3B8"/>
                </a:solidFill>
                <a:latin typeface="Urbanist"/>
                <a:ea typeface="Urbanist"/>
                <a:cs typeface="Urbanist"/>
                <a:sym typeface="Urbanist"/>
              </a:rPr>
              <a:t>, completing the vector knowledge database configuration.</a:t>
            </a:r>
            <a:endParaRPr dirty="0"/>
          </a:p>
        </p:txBody>
      </p:sp>
      <p:pic>
        <p:nvPicPr>
          <p:cNvPr id="219" name="Google Shape;219;p19" descr="image.png"/>
          <p:cNvPicPr preferRelativeResize="0"/>
          <p:nvPr/>
        </p:nvPicPr>
        <p:blipFill rotWithShape="1">
          <a:blip r:embed="rId7">
            <a:alphaModFix/>
          </a:blip>
          <a:srcRect/>
          <a:stretch/>
        </p:blipFill>
        <p:spPr>
          <a:xfrm>
            <a:off x="2212925" y="2574577"/>
            <a:ext cx="285750" cy="381000"/>
          </a:xfrm>
          <a:prstGeom prst="rect">
            <a:avLst/>
          </a:prstGeom>
          <a:noFill/>
          <a:ln>
            <a:noFill/>
          </a:ln>
        </p:spPr>
      </p:pic>
      <p:pic>
        <p:nvPicPr>
          <p:cNvPr id="220" name="Google Shape;220;p19" descr="image.png"/>
          <p:cNvPicPr preferRelativeResize="0"/>
          <p:nvPr/>
        </p:nvPicPr>
        <p:blipFill rotWithShape="1">
          <a:blip r:embed="rId8">
            <a:alphaModFix/>
          </a:blip>
          <a:srcRect/>
          <a:stretch/>
        </p:blipFill>
        <p:spPr>
          <a:xfrm>
            <a:off x="5905351" y="2574577"/>
            <a:ext cx="381000" cy="381000"/>
          </a:xfrm>
          <a:prstGeom prst="rect">
            <a:avLst/>
          </a:prstGeom>
          <a:noFill/>
          <a:ln>
            <a:noFill/>
          </a:ln>
        </p:spPr>
      </p:pic>
      <p:pic>
        <p:nvPicPr>
          <p:cNvPr id="221" name="Google Shape;221;p19" descr="image.png"/>
          <p:cNvPicPr preferRelativeResize="0"/>
          <p:nvPr/>
        </p:nvPicPr>
        <p:blipFill rotWithShape="1">
          <a:blip r:embed="rId9">
            <a:alphaModFix/>
          </a:blip>
          <a:srcRect/>
          <a:stretch/>
        </p:blipFill>
        <p:spPr>
          <a:xfrm>
            <a:off x="9669363" y="2574577"/>
            <a:ext cx="333375" cy="381000"/>
          </a:xfrm>
          <a:prstGeom prst="rect">
            <a:avLst/>
          </a:prstGeom>
          <a:noFill/>
          <a:ln>
            <a:noFill/>
          </a:ln>
        </p:spPr>
      </p:pic>
      <p:sp>
        <p:nvSpPr>
          <p:cNvPr id="222" name="Google Shape;222;p19"/>
          <p:cNvSpPr txBox="1"/>
          <p:nvPr/>
        </p:nvSpPr>
        <p:spPr>
          <a:xfrm>
            <a:off x="771525" y="581025"/>
            <a:ext cx="11381422"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dirty="0">
                <a:solidFill>
                  <a:srgbClr val="FFFFFF"/>
                </a:solidFill>
                <a:latin typeface="Urbanist"/>
                <a:ea typeface="Urbanist"/>
                <a:cs typeface="Urbanist"/>
                <a:sym typeface="Urbanist"/>
              </a:rPr>
              <a:t>DOCUMENT PROCESSING MODULE</a:t>
            </a:r>
            <a:endParaRPr dirty="0"/>
          </a:p>
        </p:txBody>
      </p:sp>
      <p:sp>
        <p:nvSpPr>
          <p:cNvPr id="223" name="Google Shape;223;p19"/>
          <p:cNvSpPr/>
          <p:nvPr/>
        </p:nvSpPr>
        <p:spPr>
          <a:xfrm>
            <a:off x="581025" y="581025"/>
            <a:ext cx="57150" cy="434280"/>
          </a:xfrm>
          <a:prstGeom prst="rect">
            <a:avLst/>
          </a:prstGeom>
          <a:solidFill>
            <a:srgbClr val="22C5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329"/>
        </a:solidFill>
        <a:effectLst/>
      </p:bgPr>
    </p:bg>
    <p:spTree>
      <p:nvGrpSpPr>
        <p:cNvPr id="1" name="Shape 227"/>
        <p:cNvGrpSpPr/>
        <p:nvPr/>
      </p:nvGrpSpPr>
      <p:grpSpPr>
        <a:xfrm>
          <a:off x="0" y="0"/>
          <a:ext cx="0" cy="0"/>
          <a:chOff x="0" y="0"/>
          <a:chExt cx="0" cy="0"/>
        </a:xfrm>
      </p:grpSpPr>
      <p:pic>
        <p:nvPicPr>
          <p:cNvPr id="229" name="Google Shape;229;p20" descr="image.png"/>
          <p:cNvPicPr preferRelativeResize="0"/>
          <p:nvPr/>
        </p:nvPicPr>
        <p:blipFill rotWithShape="1">
          <a:blip r:embed="rId3">
            <a:alphaModFix/>
          </a:blip>
          <a:srcRect/>
          <a:stretch/>
        </p:blipFill>
        <p:spPr>
          <a:xfrm>
            <a:off x="6818858" y="2555527"/>
            <a:ext cx="4792116" cy="1962150"/>
          </a:xfrm>
          <a:prstGeom prst="rect">
            <a:avLst/>
          </a:prstGeom>
          <a:noFill/>
          <a:ln>
            <a:noFill/>
          </a:ln>
        </p:spPr>
      </p:pic>
      <p:pic>
        <p:nvPicPr>
          <p:cNvPr id="230" name="Google Shape;230;p20" descr="image.png"/>
          <p:cNvPicPr preferRelativeResize="0"/>
          <p:nvPr/>
        </p:nvPicPr>
        <p:blipFill rotWithShape="1">
          <a:blip r:embed="rId4">
            <a:alphaModFix/>
          </a:blip>
          <a:srcRect/>
          <a:stretch/>
        </p:blipFill>
        <p:spPr>
          <a:xfrm>
            <a:off x="581025" y="5962650"/>
            <a:ext cx="11029950" cy="314325"/>
          </a:xfrm>
          <a:prstGeom prst="rect">
            <a:avLst/>
          </a:prstGeom>
          <a:noFill/>
          <a:ln>
            <a:noFill/>
          </a:ln>
        </p:spPr>
      </p:pic>
      <p:sp>
        <p:nvSpPr>
          <p:cNvPr id="231" name="Google Shape;231;p20"/>
          <p:cNvSpPr txBox="1"/>
          <p:nvPr/>
        </p:nvSpPr>
        <p:spPr>
          <a:xfrm>
            <a:off x="581024" y="6115050"/>
            <a:ext cx="749935"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dirty="0">
                <a:solidFill>
                  <a:srgbClr val="22C55E"/>
                </a:solidFill>
                <a:latin typeface="Urbanist"/>
                <a:ea typeface="Urbanist"/>
                <a:cs typeface="Urbanist"/>
                <a:sym typeface="Urbanist"/>
              </a:rPr>
              <a:t>CLARILUX</a:t>
            </a:r>
            <a:endParaRPr dirty="0"/>
          </a:p>
        </p:txBody>
      </p:sp>
      <p:sp>
        <p:nvSpPr>
          <p:cNvPr id="232" name="Google Shape;232;p20"/>
          <p:cNvSpPr txBox="1"/>
          <p:nvPr/>
        </p:nvSpPr>
        <p:spPr>
          <a:xfrm>
            <a:off x="10963275" y="6115050"/>
            <a:ext cx="6477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75569"/>
                </a:solidFill>
                <a:latin typeface="Urbanist"/>
                <a:ea typeface="Urbanist"/>
                <a:cs typeface="Urbanist"/>
                <a:sym typeface="Urbanist"/>
              </a:rPr>
              <a:t>Slide 8 of 11</a:t>
            </a:r>
            <a:endParaRPr/>
          </a:p>
        </p:txBody>
      </p:sp>
      <p:sp>
        <p:nvSpPr>
          <p:cNvPr id="233" name="Google Shape;233;p20"/>
          <p:cNvSpPr txBox="1"/>
          <p:nvPr/>
        </p:nvSpPr>
        <p:spPr>
          <a:xfrm>
            <a:off x="581025" y="1889075"/>
            <a:ext cx="6149674"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8BDF8"/>
                </a:solidFill>
                <a:latin typeface="Urbanist SemiBold"/>
                <a:ea typeface="Urbanist SemiBold"/>
                <a:cs typeface="Urbanist SemiBold"/>
                <a:sym typeface="Urbanist SemiBold"/>
              </a:rPr>
              <a:t>Modular Prompt Assembly</a:t>
            </a:r>
            <a:endParaRPr/>
          </a:p>
        </p:txBody>
      </p:sp>
      <p:sp>
        <p:nvSpPr>
          <p:cNvPr id="234" name="Google Shape;234;p20"/>
          <p:cNvSpPr txBox="1"/>
          <p:nvPr/>
        </p:nvSpPr>
        <p:spPr>
          <a:xfrm>
            <a:off x="581025" y="2279600"/>
            <a:ext cx="5856833"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solidFill>
                  <a:srgbClr val="94A3B8"/>
                </a:solidFill>
                <a:latin typeface="Urbanist"/>
                <a:ea typeface="Urbanist"/>
                <a:cs typeface="Urbanist"/>
                <a:sym typeface="Urbanist"/>
              </a:rPr>
              <a:t>On every request, the backend coordinates multiple variables before submitting to the model, utilizing isolated template processes.</a:t>
            </a:r>
            <a:endParaRPr dirty="0"/>
          </a:p>
        </p:txBody>
      </p:sp>
      <p:sp>
        <p:nvSpPr>
          <p:cNvPr id="235" name="Google Shape;235;p20"/>
          <p:cNvSpPr txBox="1"/>
          <p:nvPr/>
        </p:nvSpPr>
        <p:spPr>
          <a:xfrm>
            <a:off x="7114133" y="2850802"/>
            <a:ext cx="2160686"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Arial"/>
                <a:ea typeface="Arial"/>
                <a:cs typeface="Arial"/>
                <a:sym typeface="Arial"/>
              </a:rPr>
              <a:t># Backend context packaging</a:t>
            </a:r>
            <a:endParaRPr/>
          </a:p>
        </p:txBody>
      </p:sp>
      <p:sp>
        <p:nvSpPr>
          <p:cNvPr id="236" name="Google Shape;236;p20"/>
          <p:cNvSpPr txBox="1"/>
          <p:nvPr/>
        </p:nvSpPr>
        <p:spPr>
          <a:xfrm>
            <a:off x="7914382" y="3003202"/>
            <a:ext cx="2880866"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E2E8F0"/>
                </a:solidFill>
                <a:latin typeface="Arial"/>
                <a:ea typeface="Arial"/>
                <a:cs typeface="Arial"/>
                <a:sym typeface="Arial"/>
              </a:rPr>
              <a:t>"\n\n".join(results["documents"][0])</a:t>
            </a:r>
            <a:endParaRPr/>
          </a:p>
        </p:txBody>
      </p:sp>
      <p:sp>
        <p:nvSpPr>
          <p:cNvPr id="237" name="Google Shape;237;p20"/>
          <p:cNvSpPr txBox="1"/>
          <p:nvPr/>
        </p:nvSpPr>
        <p:spPr>
          <a:xfrm>
            <a:off x="7114133" y="3308002"/>
            <a:ext cx="2560736"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a:solidFill>
                  <a:srgbClr val="64748B"/>
                </a:solidFill>
                <a:latin typeface="Arial"/>
                <a:ea typeface="Arial"/>
                <a:cs typeface="Arial"/>
                <a:sym typeface="Arial"/>
              </a:rPr>
              <a:t># Prompt building via prompt.txt</a:t>
            </a:r>
            <a:endParaRPr dirty="0"/>
          </a:p>
        </p:txBody>
      </p:sp>
      <p:sp>
        <p:nvSpPr>
          <p:cNvPr id="238" name="Google Shape;238;p20"/>
          <p:cNvSpPr txBox="1"/>
          <p:nvPr/>
        </p:nvSpPr>
        <p:spPr>
          <a:xfrm>
            <a:off x="1009650" y="3066305"/>
            <a:ext cx="5428208"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F1F5F9"/>
                </a:solidFill>
                <a:latin typeface="Urbanist"/>
                <a:ea typeface="Urbanist"/>
                <a:cs typeface="Urbanist"/>
                <a:sym typeface="Urbanist"/>
              </a:rPr>
              <a:t>Sliding Conversation Window:</a:t>
            </a:r>
            <a:r>
              <a:rPr lang="en-US" sz="1425" b="0" i="0" u="none" strike="noStrike" cap="none">
                <a:solidFill>
                  <a:srgbClr val="94A3B8"/>
                </a:solidFill>
                <a:latin typeface="Urbanist"/>
                <a:ea typeface="Urbanist"/>
                <a:cs typeface="Urbanist"/>
                <a:sym typeface="Urbanist"/>
              </a:rPr>
              <a:t> Truncates history to the last 6 messages (`history[-6:]`) to prevent memory overload.</a:t>
            </a:r>
            <a:endParaRPr/>
          </a:p>
        </p:txBody>
      </p:sp>
      <p:sp>
        <p:nvSpPr>
          <p:cNvPr id="239" name="Google Shape;239;p20"/>
          <p:cNvSpPr txBox="1"/>
          <p:nvPr/>
        </p:nvSpPr>
        <p:spPr>
          <a:xfrm>
            <a:off x="1009650" y="3835747"/>
            <a:ext cx="5428208"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F1F5F9"/>
                </a:solidFill>
                <a:latin typeface="Urbanist"/>
                <a:ea typeface="Urbanist"/>
                <a:cs typeface="Urbanist"/>
                <a:sym typeface="Urbanist"/>
              </a:rPr>
              <a:t>Context Matching:</a:t>
            </a:r>
            <a:r>
              <a:rPr lang="en-US" sz="1425" b="0" i="0" u="none" strike="noStrike" cap="none">
                <a:solidFill>
                  <a:srgbClr val="94A3B8"/>
                </a:solidFill>
                <a:latin typeface="Urbanist"/>
                <a:ea typeface="Urbanist"/>
                <a:cs typeface="Urbanist"/>
                <a:sym typeface="Urbanist"/>
              </a:rPr>
              <a:t> Injects the top 3 semantic matches retrieved from ChromaDB into the query.</a:t>
            </a:r>
            <a:endParaRPr/>
          </a:p>
        </p:txBody>
      </p:sp>
      <p:sp>
        <p:nvSpPr>
          <p:cNvPr id="240" name="Google Shape;240;p20"/>
          <p:cNvSpPr txBox="1"/>
          <p:nvPr/>
        </p:nvSpPr>
        <p:spPr>
          <a:xfrm>
            <a:off x="1009650" y="4605188"/>
            <a:ext cx="5428208"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F1F5F9"/>
                </a:solidFill>
                <a:latin typeface="Urbanist"/>
                <a:ea typeface="Urbanist"/>
                <a:cs typeface="Urbanist"/>
                <a:sym typeface="Urbanist"/>
              </a:rPr>
              <a:t>Prompt Template Integration:</a:t>
            </a:r>
            <a:r>
              <a:rPr lang="en-US" sz="1425" b="0" i="0" u="none" strike="noStrike" cap="none">
                <a:solidFill>
                  <a:srgbClr val="94A3B8"/>
                </a:solidFill>
                <a:latin typeface="Urbanist"/>
                <a:ea typeface="Urbanist"/>
                <a:cs typeface="Urbanist"/>
                <a:sym typeface="Urbanist"/>
              </a:rPr>
              <a:t> Dynamic string formatting resolves runtime structures securely.</a:t>
            </a:r>
            <a:endParaRPr/>
          </a:p>
        </p:txBody>
      </p:sp>
      <p:pic>
        <p:nvPicPr>
          <p:cNvPr id="241" name="Google Shape;241;p20" descr="image.png"/>
          <p:cNvPicPr preferRelativeResize="0"/>
          <p:nvPr/>
        </p:nvPicPr>
        <p:blipFill rotWithShape="1">
          <a:blip r:embed="rId5">
            <a:alphaModFix/>
          </a:blip>
          <a:srcRect/>
          <a:stretch/>
        </p:blipFill>
        <p:spPr>
          <a:xfrm>
            <a:off x="581025" y="3094880"/>
            <a:ext cx="228600" cy="247650"/>
          </a:xfrm>
          <a:prstGeom prst="rect">
            <a:avLst/>
          </a:prstGeom>
          <a:noFill/>
          <a:ln>
            <a:noFill/>
          </a:ln>
        </p:spPr>
      </p:pic>
      <p:pic>
        <p:nvPicPr>
          <p:cNvPr id="242" name="Google Shape;242;p20" descr="image.png"/>
          <p:cNvPicPr preferRelativeResize="0"/>
          <p:nvPr/>
        </p:nvPicPr>
        <p:blipFill rotWithShape="1">
          <a:blip r:embed="rId6">
            <a:alphaModFix/>
          </a:blip>
          <a:srcRect/>
          <a:stretch/>
        </p:blipFill>
        <p:spPr>
          <a:xfrm>
            <a:off x="581025" y="3864322"/>
            <a:ext cx="171450" cy="247650"/>
          </a:xfrm>
          <a:prstGeom prst="rect">
            <a:avLst/>
          </a:prstGeom>
          <a:noFill/>
          <a:ln>
            <a:noFill/>
          </a:ln>
        </p:spPr>
      </p:pic>
      <p:pic>
        <p:nvPicPr>
          <p:cNvPr id="243" name="Google Shape;243;p20" descr="image.png"/>
          <p:cNvPicPr preferRelativeResize="0"/>
          <p:nvPr/>
        </p:nvPicPr>
        <p:blipFill rotWithShape="1">
          <a:blip r:embed="rId7">
            <a:alphaModFix/>
          </a:blip>
          <a:srcRect/>
          <a:stretch/>
        </p:blipFill>
        <p:spPr>
          <a:xfrm>
            <a:off x="581025" y="4633763"/>
            <a:ext cx="257175" cy="247650"/>
          </a:xfrm>
          <a:prstGeom prst="rect">
            <a:avLst/>
          </a:prstGeom>
          <a:noFill/>
          <a:ln>
            <a:noFill/>
          </a:ln>
        </p:spPr>
      </p:pic>
      <p:sp>
        <p:nvSpPr>
          <p:cNvPr id="244" name="Google Shape;244;p20"/>
          <p:cNvSpPr txBox="1"/>
          <p:nvPr/>
        </p:nvSpPr>
        <p:spPr>
          <a:xfrm>
            <a:off x="771525" y="581025"/>
            <a:ext cx="11381422"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dirty="0">
                <a:solidFill>
                  <a:srgbClr val="FFFFFF"/>
                </a:solidFill>
                <a:latin typeface="Urbanist"/>
                <a:ea typeface="Urbanist"/>
                <a:cs typeface="Urbanist"/>
                <a:sym typeface="Urbanist"/>
              </a:rPr>
              <a:t>WORKFLOW MANAGER</a:t>
            </a:r>
            <a:endParaRPr dirty="0"/>
          </a:p>
        </p:txBody>
      </p:sp>
      <p:sp>
        <p:nvSpPr>
          <p:cNvPr id="245" name="Google Shape;245;p20"/>
          <p:cNvSpPr/>
          <p:nvPr/>
        </p:nvSpPr>
        <p:spPr>
          <a:xfrm>
            <a:off x="581025" y="581025"/>
            <a:ext cx="57150" cy="434280"/>
          </a:xfrm>
          <a:prstGeom prst="rect">
            <a:avLst/>
          </a:prstGeom>
          <a:solidFill>
            <a:srgbClr val="22C5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329"/>
        </a:solidFill>
        <a:effectLst/>
      </p:bgPr>
    </p:bg>
    <p:spTree>
      <p:nvGrpSpPr>
        <p:cNvPr id="1" name="Shape 249"/>
        <p:cNvGrpSpPr/>
        <p:nvPr/>
      </p:nvGrpSpPr>
      <p:grpSpPr>
        <a:xfrm>
          <a:off x="0" y="0"/>
          <a:ext cx="0" cy="0"/>
          <a:chOff x="0" y="0"/>
          <a:chExt cx="0" cy="0"/>
        </a:xfrm>
      </p:grpSpPr>
      <p:pic>
        <p:nvPicPr>
          <p:cNvPr id="251" name="Google Shape;251;p21" descr="image.png"/>
          <p:cNvPicPr preferRelativeResize="0"/>
          <p:nvPr/>
        </p:nvPicPr>
        <p:blipFill rotWithShape="1">
          <a:blip r:embed="rId3">
            <a:alphaModFix/>
          </a:blip>
          <a:srcRect/>
          <a:stretch/>
        </p:blipFill>
        <p:spPr>
          <a:xfrm>
            <a:off x="6818858" y="2641252"/>
            <a:ext cx="4792116" cy="1790700"/>
          </a:xfrm>
          <a:prstGeom prst="rect">
            <a:avLst/>
          </a:prstGeom>
          <a:noFill/>
          <a:ln>
            <a:noFill/>
          </a:ln>
        </p:spPr>
      </p:pic>
      <p:pic>
        <p:nvPicPr>
          <p:cNvPr id="252" name="Google Shape;252;p21" descr="image.png"/>
          <p:cNvPicPr preferRelativeResize="0"/>
          <p:nvPr/>
        </p:nvPicPr>
        <p:blipFill rotWithShape="1">
          <a:blip r:embed="rId4">
            <a:alphaModFix/>
          </a:blip>
          <a:srcRect/>
          <a:stretch/>
        </p:blipFill>
        <p:spPr>
          <a:xfrm>
            <a:off x="581025" y="5962650"/>
            <a:ext cx="11029950" cy="314325"/>
          </a:xfrm>
          <a:prstGeom prst="rect">
            <a:avLst/>
          </a:prstGeom>
          <a:noFill/>
          <a:ln>
            <a:noFill/>
          </a:ln>
        </p:spPr>
      </p:pic>
      <p:sp>
        <p:nvSpPr>
          <p:cNvPr id="253" name="Google Shape;253;p21"/>
          <p:cNvSpPr txBox="1"/>
          <p:nvPr/>
        </p:nvSpPr>
        <p:spPr>
          <a:xfrm>
            <a:off x="581024" y="6115050"/>
            <a:ext cx="647699"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dirty="0">
                <a:solidFill>
                  <a:srgbClr val="22C55E"/>
                </a:solidFill>
                <a:latin typeface="Urbanist"/>
                <a:ea typeface="Urbanist"/>
                <a:cs typeface="Urbanist"/>
                <a:sym typeface="Urbanist"/>
              </a:rPr>
              <a:t>CLARILUX</a:t>
            </a:r>
            <a:endParaRPr dirty="0"/>
          </a:p>
        </p:txBody>
      </p:sp>
      <p:sp>
        <p:nvSpPr>
          <p:cNvPr id="254" name="Google Shape;254;p21"/>
          <p:cNvSpPr txBox="1"/>
          <p:nvPr/>
        </p:nvSpPr>
        <p:spPr>
          <a:xfrm>
            <a:off x="10963275" y="6115050"/>
            <a:ext cx="6477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75569"/>
                </a:solidFill>
                <a:latin typeface="Urbanist"/>
                <a:ea typeface="Urbanist"/>
                <a:cs typeface="Urbanist"/>
                <a:sym typeface="Urbanist"/>
              </a:rPr>
              <a:t>Slide 9 of 11</a:t>
            </a:r>
            <a:endParaRPr/>
          </a:p>
        </p:txBody>
      </p:sp>
      <p:sp>
        <p:nvSpPr>
          <p:cNvPr id="255" name="Google Shape;255;p21"/>
          <p:cNvSpPr txBox="1"/>
          <p:nvPr/>
        </p:nvSpPr>
        <p:spPr>
          <a:xfrm>
            <a:off x="581025" y="1912887"/>
            <a:ext cx="6149674"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a:solidFill>
                  <a:srgbClr val="38BDF8"/>
                </a:solidFill>
                <a:latin typeface="Urbanist SemiBold"/>
                <a:ea typeface="Urbanist SemiBold"/>
                <a:cs typeface="Urbanist SemiBold"/>
                <a:sym typeface="Urbanist SemiBold"/>
              </a:rPr>
              <a:t>Failover Routing</a:t>
            </a:r>
            <a:endParaRPr dirty="0"/>
          </a:p>
        </p:txBody>
      </p:sp>
      <p:sp>
        <p:nvSpPr>
          <p:cNvPr id="256" name="Google Shape;256;p21"/>
          <p:cNvSpPr txBox="1"/>
          <p:nvPr/>
        </p:nvSpPr>
        <p:spPr>
          <a:xfrm>
            <a:off x="581025" y="2303412"/>
            <a:ext cx="5856833"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solidFill>
                  <a:srgbClr val="94A3B8"/>
                </a:solidFill>
                <a:latin typeface="Urbanist"/>
                <a:ea typeface="Urbanist"/>
                <a:cs typeface="Urbanist"/>
                <a:sym typeface="Urbanist"/>
              </a:rPr>
              <a:t>To ensure maximum uptime, the system employs an automated API failover mechanism, safeguarding the interface against network anomalies.</a:t>
            </a:r>
            <a:endParaRPr dirty="0"/>
          </a:p>
        </p:txBody>
      </p:sp>
      <p:sp>
        <p:nvSpPr>
          <p:cNvPr id="257" name="Google Shape;257;p21"/>
          <p:cNvSpPr txBox="1"/>
          <p:nvPr/>
        </p:nvSpPr>
        <p:spPr>
          <a:xfrm>
            <a:off x="7114133" y="2765077"/>
            <a:ext cx="4411645" cy="228600"/>
          </a:xfrm>
          <a:prstGeom prst="rect">
            <a:avLst/>
          </a:prstGeom>
          <a:noFill/>
          <a:ln>
            <a:noFill/>
          </a:ln>
        </p:spPr>
        <p:txBody>
          <a:bodyPr spcFirstLastPara="1" wrap="square" lIns="190500" tIns="0" rIns="0" bIns="0" anchor="t" anchorCtr="0">
            <a:spAutoFit/>
          </a:bodyPr>
          <a:lstStyle/>
          <a:p>
            <a:pPr marL="0" marR="0" lvl="0" indent="0" algn="l" rtl="0">
              <a:spcBef>
                <a:spcPts val="0"/>
              </a:spcBef>
              <a:spcAft>
                <a:spcPts val="0"/>
              </a:spcAft>
              <a:buNone/>
            </a:pPr>
            <a:r>
              <a:rPr lang="en-US" sz="1500" b="0" i="0" u="none" strike="noStrike" cap="none" dirty="0">
                <a:solidFill>
                  <a:srgbClr val="EF4444"/>
                </a:solidFill>
                <a:latin typeface="Urbanist SemiBold"/>
                <a:ea typeface="Urbanist SemiBold"/>
                <a:cs typeface="Urbanist SemiBold"/>
                <a:sym typeface="Urbanist SemiBold"/>
              </a:rPr>
              <a:t>Resilient Failback Block</a:t>
            </a:r>
            <a:endParaRPr dirty="0"/>
          </a:p>
        </p:txBody>
      </p:sp>
      <p:sp>
        <p:nvSpPr>
          <p:cNvPr id="258" name="Google Shape;258;p21"/>
          <p:cNvSpPr txBox="1"/>
          <p:nvPr/>
        </p:nvSpPr>
        <p:spPr>
          <a:xfrm>
            <a:off x="7114133" y="3067624"/>
            <a:ext cx="4201566" cy="1298432"/>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dirty="0">
                <a:solidFill>
                  <a:srgbClr val="CBD5E1"/>
                </a:solidFill>
                <a:latin typeface="Urbanist"/>
                <a:ea typeface="Urbanist"/>
                <a:cs typeface="Urbanist"/>
                <a:sym typeface="Urbanist"/>
              </a:rPr>
              <a:t>When Google's direct SDK raises an exception (such as a 503 or quota limits), the active endpoint captures the error and redirects the compiled prompt payload to the alternative pipeline. This guarantees a smooth user experience. Without even knowing of the error</a:t>
            </a:r>
            <a:endParaRPr dirty="0"/>
          </a:p>
        </p:txBody>
      </p:sp>
      <p:sp>
        <p:nvSpPr>
          <p:cNvPr id="259" name="Google Shape;259;p21"/>
          <p:cNvSpPr txBox="1"/>
          <p:nvPr/>
        </p:nvSpPr>
        <p:spPr>
          <a:xfrm>
            <a:off x="1009650" y="3042493"/>
            <a:ext cx="5428208"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dirty="0">
                <a:solidFill>
                  <a:srgbClr val="F1F5F9"/>
                </a:solidFill>
                <a:latin typeface="Urbanist"/>
                <a:ea typeface="Urbanist"/>
                <a:cs typeface="Urbanist"/>
                <a:sym typeface="Urbanist"/>
              </a:rPr>
              <a:t>SDK Fallback Execution:</a:t>
            </a:r>
            <a:r>
              <a:rPr lang="en-US" sz="1425" b="0" i="0" u="none" strike="noStrike" cap="none" dirty="0">
                <a:solidFill>
                  <a:srgbClr val="94A3B8"/>
                </a:solidFill>
                <a:latin typeface="Urbanist"/>
                <a:ea typeface="Urbanist"/>
                <a:cs typeface="Urbanist"/>
                <a:sym typeface="Urbanist"/>
              </a:rPr>
              <a:t> If the primary Google SDK fails or encounters high loads, the exception is caught immediately.</a:t>
            </a:r>
            <a:endParaRPr dirty="0"/>
          </a:p>
        </p:txBody>
      </p:sp>
      <p:sp>
        <p:nvSpPr>
          <p:cNvPr id="260" name="Google Shape;260;p21"/>
          <p:cNvSpPr txBox="1"/>
          <p:nvPr/>
        </p:nvSpPr>
        <p:spPr>
          <a:xfrm>
            <a:off x="1009650" y="3811934"/>
            <a:ext cx="5428208"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dirty="0">
                <a:solidFill>
                  <a:srgbClr val="F1F5F9"/>
                </a:solidFill>
                <a:latin typeface="Urbanist"/>
                <a:ea typeface="Urbanist"/>
                <a:cs typeface="Urbanist"/>
                <a:sym typeface="Urbanist"/>
              </a:rPr>
              <a:t>HTTPX Route Diversion:</a:t>
            </a:r>
            <a:r>
              <a:rPr lang="en-US" sz="1425" b="0" i="0" u="none" strike="noStrike" cap="none" dirty="0">
                <a:solidFill>
                  <a:srgbClr val="94A3B8"/>
                </a:solidFill>
                <a:latin typeface="Urbanist"/>
                <a:ea typeface="Urbanist"/>
                <a:cs typeface="Urbanist"/>
                <a:sym typeface="Urbanist"/>
              </a:rPr>
              <a:t> Real-time requests are instantly mapped through HTTPX POST commands to alternative proxy nodes.</a:t>
            </a:r>
            <a:endParaRPr dirty="0"/>
          </a:p>
        </p:txBody>
      </p:sp>
      <p:sp>
        <p:nvSpPr>
          <p:cNvPr id="261" name="Google Shape;261;p21"/>
          <p:cNvSpPr txBox="1"/>
          <p:nvPr/>
        </p:nvSpPr>
        <p:spPr>
          <a:xfrm>
            <a:off x="1009650" y="4581376"/>
            <a:ext cx="5428208"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dirty="0">
                <a:solidFill>
                  <a:srgbClr val="F1F5F9"/>
                </a:solidFill>
                <a:latin typeface="Urbanist"/>
                <a:ea typeface="Urbanist"/>
                <a:cs typeface="Urbanist"/>
                <a:sym typeface="Urbanist"/>
              </a:rPr>
              <a:t>OpenRouter API Proxy:</a:t>
            </a:r>
            <a:r>
              <a:rPr lang="en-US" sz="1425" b="0" i="0" u="none" strike="noStrike" cap="none" dirty="0">
                <a:solidFill>
                  <a:srgbClr val="94A3B8"/>
                </a:solidFill>
                <a:latin typeface="Urbanist"/>
                <a:ea typeface="Urbanist"/>
                <a:cs typeface="Urbanist"/>
                <a:sym typeface="Urbanist"/>
              </a:rPr>
              <a:t> Leverages the OpenRouter endpoint configuration as a fallback mechanism.</a:t>
            </a:r>
            <a:endParaRPr dirty="0"/>
          </a:p>
        </p:txBody>
      </p:sp>
      <p:pic>
        <p:nvPicPr>
          <p:cNvPr id="262" name="Google Shape;262;p21" descr="image.png"/>
          <p:cNvPicPr preferRelativeResize="0"/>
          <p:nvPr/>
        </p:nvPicPr>
        <p:blipFill rotWithShape="1">
          <a:blip r:embed="rId5">
            <a:alphaModFix/>
          </a:blip>
          <a:srcRect/>
          <a:stretch/>
        </p:blipFill>
        <p:spPr>
          <a:xfrm>
            <a:off x="7114133" y="2955577"/>
            <a:ext cx="190500" cy="190500"/>
          </a:xfrm>
          <a:prstGeom prst="rect">
            <a:avLst/>
          </a:prstGeom>
          <a:noFill/>
          <a:ln>
            <a:noFill/>
          </a:ln>
        </p:spPr>
      </p:pic>
      <p:pic>
        <p:nvPicPr>
          <p:cNvPr id="263" name="Google Shape;263;p21" descr="image.png"/>
          <p:cNvPicPr preferRelativeResize="0"/>
          <p:nvPr/>
        </p:nvPicPr>
        <p:blipFill rotWithShape="1">
          <a:blip r:embed="rId6">
            <a:alphaModFix/>
          </a:blip>
          <a:srcRect/>
          <a:stretch/>
        </p:blipFill>
        <p:spPr>
          <a:xfrm>
            <a:off x="581025" y="3071068"/>
            <a:ext cx="228600" cy="247650"/>
          </a:xfrm>
          <a:prstGeom prst="rect">
            <a:avLst/>
          </a:prstGeom>
          <a:noFill/>
          <a:ln>
            <a:noFill/>
          </a:ln>
        </p:spPr>
      </p:pic>
      <p:pic>
        <p:nvPicPr>
          <p:cNvPr id="264" name="Google Shape;264;p21" descr="image.png"/>
          <p:cNvPicPr preferRelativeResize="0"/>
          <p:nvPr/>
        </p:nvPicPr>
        <p:blipFill rotWithShape="1">
          <a:blip r:embed="rId7">
            <a:alphaModFix/>
          </a:blip>
          <a:srcRect/>
          <a:stretch/>
        </p:blipFill>
        <p:spPr>
          <a:xfrm>
            <a:off x="581025" y="3840509"/>
            <a:ext cx="228600" cy="247650"/>
          </a:xfrm>
          <a:prstGeom prst="rect">
            <a:avLst/>
          </a:prstGeom>
          <a:noFill/>
          <a:ln>
            <a:noFill/>
          </a:ln>
        </p:spPr>
      </p:pic>
      <p:pic>
        <p:nvPicPr>
          <p:cNvPr id="265" name="Google Shape;265;p21" descr="image.png"/>
          <p:cNvPicPr preferRelativeResize="0"/>
          <p:nvPr/>
        </p:nvPicPr>
        <p:blipFill rotWithShape="1">
          <a:blip r:embed="rId8">
            <a:alphaModFix/>
          </a:blip>
          <a:srcRect/>
          <a:stretch/>
        </p:blipFill>
        <p:spPr>
          <a:xfrm>
            <a:off x="581025" y="4609951"/>
            <a:ext cx="228600" cy="247650"/>
          </a:xfrm>
          <a:prstGeom prst="rect">
            <a:avLst/>
          </a:prstGeom>
          <a:noFill/>
          <a:ln>
            <a:noFill/>
          </a:ln>
        </p:spPr>
      </p:pic>
      <p:sp>
        <p:nvSpPr>
          <p:cNvPr id="266" name="Google Shape;266;p21"/>
          <p:cNvSpPr txBox="1"/>
          <p:nvPr/>
        </p:nvSpPr>
        <p:spPr>
          <a:xfrm>
            <a:off x="771525" y="581025"/>
            <a:ext cx="11381422" cy="4342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FFFFFF"/>
                </a:solidFill>
                <a:latin typeface="Urbanist"/>
                <a:ea typeface="Urbanist"/>
                <a:cs typeface="Urbanist"/>
                <a:sym typeface="Urbanist"/>
              </a:rPr>
              <a:t>HIGH-AVAILABILITY ARCHITECTURE</a:t>
            </a:r>
            <a:endParaRPr/>
          </a:p>
        </p:txBody>
      </p:sp>
      <p:sp>
        <p:nvSpPr>
          <p:cNvPr id="267" name="Google Shape;267;p21"/>
          <p:cNvSpPr/>
          <p:nvPr/>
        </p:nvSpPr>
        <p:spPr>
          <a:xfrm>
            <a:off x="581025" y="581025"/>
            <a:ext cx="57150" cy="434280"/>
          </a:xfrm>
          <a:prstGeom prst="rect">
            <a:avLst/>
          </a:prstGeom>
          <a:solidFill>
            <a:srgbClr val="22C5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329"/>
        </a:solidFill>
        <a:effectLst/>
      </p:bgPr>
    </p:bg>
    <p:spTree>
      <p:nvGrpSpPr>
        <p:cNvPr id="1" name="Shape 271"/>
        <p:cNvGrpSpPr/>
        <p:nvPr/>
      </p:nvGrpSpPr>
      <p:grpSpPr>
        <a:xfrm>
          <a:off x="0" y="0"/>
          <a:ext cx="0" cy="0"/>
          <a:chOff x="0" y="0"/>
          <a:chExt cx="0" cy="0"/>
        </a:xfrm>
      </p:grpSpPr>
      <p:pic>
        <p:nvPicPr>
          <p:cNvPr id="273" name="Google Shape;273;p22" descr="image.png"/>
          <p:cNvPicPr preferRelativeResize="0"/>
          <p:nvPr/>
        </p:nvPicPr>
        <p:blipFill rotWithShape="1">
          <a:blip r:embed="rId3">
            <a:alphaModFix/>
          </a:blip>
          <a:srcRect/>
          <a:stretch/>
        </p:blipFill>
        <p:spPr>
          <a:xfrm>
            <a:off x="581025" y="5962650"/>
            <a:ext cx="11029950" cy="314325"/>
          </a:xfrm>
          <a:prstGeom prst="rect">
            <a:avLst/>
          </a:prstGeom>
          <a:noFill/>
          <a:ln>
            <a:noFill/>
          </a:ln>
        </p:spPr>
      </p:pic>
      <p:sp>
        <p:nvSpPr>
          <p:cNvPr id="274" name="Google Shape;274;p22"/>
          <p:cNvSpPr/>
          <p:nvPr/>
        </p:nvSpPr>
        <p:spPr>
          <a:xfrm>
            <a:off x="581025" y="2322165"/>
            <a:ext cx="11029950" cy="2428875"/>
          </a:xfrm>
          <a:prstGeom prst="roundRect">
            <a:avLst>
              <a:gd name="adj" fmla="val 0"/>
            </a:avLst>
          </a:prstGeom>
          <a:solidFill>
            <a:srgbClr val="0F172A"/>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275" name="Google Shape;275;p22"/>
          <p:cNvGraphicFramePr/>
          <p:nvPr>
            <p:extLst>
              <p:ext uri="{D42A27DB-BD31-4B8C-83A1-F6EECF244321}">
                <p14:modId xmlns:p14="http://schemas.microsoft.com/office/powerpoint/2010/main" val="4148244121"/>
              </p:ext>
            </p:extLst>
          </p:nvPr>
        </p:nvGraphicFramePr>
        <p:xfrm>
          <a:off x="581025" y="2322165"/>
          <a:ext cx="11020425" cy="2428900"/>
        </p:xfrm>
        <a:graphic>
          <a:graphicData uri="http://schemas.openxmlformats.org/drawingml/2006/table">
            <a:tbl>
              <a:tblPr firstRow="1" bandRow="1">
                <a:noFill/>
                <a:tableStyleId>{F8D4F5E8-7834-445E-8F1C-85EE08DB9434}</a:tableStyleId>
              </a:tblPr>
              <a:tblGrid>
                <a:gridCol w="2431100">
                  <a:extLst>
                    <a:ext uri="{9D8B030D-6E8A-4147-A177-3AD203B41FA5}">
                      <a16:colId xmlns:a16="http://schemas.microsoft.com/office/drawing/2014/main" val="20000"/>
                    </a:ext>
                  </a:extLst>
                </a:gridCol>
                <a:gridCol w="3311575">
                  <a:extLst>
                    <a:ext uri="{9D8B030D-6E8A-4147-A177-3AD203B41FA5}">
                      <a16:colId xmlns:a16="http://schemas.microsoft.com/office/drawing/2014/main" val="20001"/>
                    </a:ext>
                  </a:extLst>
                </a:gridCol>
                <a:gridCol w="3178675">
                  <a:extLst>
                    <a:ext uri="{9D8B030D-6E8A-4147-A177-3AD203B41FA5}">
                      <a16:colId xmlns:a16="http://schemas.microsoft.com/office/drawing/2014/main" val="20002"/>
                    </a:ext>
                  </a:extLst>
                </a:gridCol>
                <a:gridCol w="2099075">
                  <a:extLst>
                    <a:ext uri="{9D8B030D-6E8A-4147-A177-3AD203B41FA5}">
                      <a16:colId xmlns:a16="http://schemas.microsoft.com/office/drawing/2014/main" val="20003"/>
                    </a:ext>
                  </a:extLst>
                </a:gridCol>
              </a:tblGrid>
              <a:tr h="607225">
                <a:tc>
                  <a:txBody>
                    <a:bodyPr/>
                    <a:lstStyle/>
                    <a:p>
                      <a:pPr marL="0" marR="0" lvl="0" indent="0" algn="l" rtl="0">
                        <a:spcBef>
                          <a:spcPts val="0"/>
                        </a:spcBef>
                        <a:spcAft>
                          <a:spcPts val="0"/>
                        </a:spcAft>
                        <a:buNone/>
                      </a:pPr>
                      <a:r>
                        <a:rPr lang="en-US" sz="1500" b="1" i="0" u="none" strike="noStrike" cap="none">
                          <a:solidFill>
                            <a:srgbClr val="22C55E"/>
                          </a:solidFill>
                          <a:latin typeface="Urbanist"/>
                          <a:ea typeface="Urbanist"/>
                          <a:cs typeface="Urbanist"/>
                          <a:sym typeface="Urbanist"/>
                        </a:rPr>
                        <a:t>Path Category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500" b="1" i="0" u="none" strike="noStrike" cap="none">
                          <a:solidFill>
                            <a:srgbClr val="22C55E"/>
                          </a:solidFill>
                          <a:latin typeface="Urbanist"/>
                          <a:ea typeface="Urbanist"/>
                          <a:cs typeface="Urbanist"/>
                          <a:sym typeface="Urbanist"/>
                        </a:rPr>
                        <a:t>Endpoint/Service Provider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500" b="1" i="0" u="none" strike="noStrike" cap="none">
                          <a:solidFill>
                            <a:srgbClr val="22C55E"/>
                          </a:solidFill>
                          <a:latin typeface="Urbanist"/>
                          <a:ea typeface="Urbanist"/>
                          <a:cs typeface="Urbanist"/>
                          <a:sym typeface="Urbanist"/>
                        </a:rPr>
                        <a:t>Network Protocol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500" b="1" i="0" u="none" strike="noStrike" cap="none" dirty="0">
                          <a:solidFill>
                            <a:srgbClr val="22C55E"/>
                          </a:solidFill>
                          <a:latin typeface="Urbanist"/>
                          <a:ea typeface="Urbanist"/>
                          <a:cs typeface="Urbanist"/>
                          <a:sym typeface="Urbanist"/>
                        </a:rPr>
                        <a:t>Routing Priority</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extLst>
                  <a:ext uri="{0D108BD9-81ED-4DB2-BD59-A6C34878D82A}">
                    <a16:rowId xmlns:a16="http://schemas.microsoft.com/office/drawing/2014/main" val="10000"/>
                  </a:ext>
                </a:extLst>
              </a:tr>
              <a:tr h="607225">
                <a:tc>
                  <a:txBody>
                    <a:bodyPr/>
                    <a:lstStyle/>
                    <a:p>
                      <a:pPr marL="0" marR="0" lvl="0" indent="0" algn="l" rtl="0">
                        <a:spcBef>
                          <a:spcPts val="0"/>
                        </a:spcBef>
                        <a:spcAft>
                          <a:spcPts val="0"/>
                        </a:spcAft>
                        <a:buNone/>
                      </a:pPr>
                      <a:r>
                        <a:rPr lang="en-US" sz="1350" b="1" i="0" u="none" strike="noStrike" cap="none" dirty="0">
                          <a:solidFill>
                            <a:schemeClr val="tx1">
                              <a:lumMod val="75000"/>
                              <a:lumOff val="25000"/>
                            </a:schemeClr>
                          </a:solidFill>
                          <a:latin typeface="Urbanist"/>
                          <a:ea typeface="Urbanist"/>
                          <a:cs typeface="Urbanist"/>
                          <a:sym typeface="Urbanist"/>
                        </a:rPr>
                        <a:t>Primary Execution</a:t>
                      </a:r>
                      <a:endParaRPr dirty="0">
                        <a:solidFill>
                          <a:schemeClr val="tx1">
                            <a:lumMod val="75000"/>
                            <a:lumOff val="25000"/>
                          </a:schemeClr>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dirty="0">
                          <a:solidFill>
                            <a:schemeClr val="tx1">
                              <a:lumMod val="75000"/>
                              <a:lumOff val="25000"/>
                            </a:schemeClr>
                          </a:solidFill>
                          <a:latin typeface="Urbanist"/>
                          <a:ea typeface="Urbanist"/>
                          <a:cs typeface="Urbanist"/>
                          <a:sym typeface="Urbanist"/>
                        </a:rPr>
                        <a:t>Google GenAI Client (SDK)</a:t>
                      </a:r>
                      <a:endParaRPr dirty="0">
                        <a:solidFill>
                          <a:schemeClr val="tx1">
                            <a:lumMod val="75000"/>
                            <a:lumOff val="25000"/>
                          </a:schemeClr>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dirty="0">
                          <a:solidFill>
                            <a:schemeClr val="tx1">
                              <a:lumMod val="75000"/>
                              <a:lumOff val="25000"/>
                            </a:schemeClr>
                          </a:solidFill>
                          <a:latin typeface="Urbanist"/>
                          <a:ea typeface="Urbanist"/>
                          <a:cs typeface="Urbanist"/>
                          <a:sym typeface="Urbanist"/>
                        </a:rPr>
                        <a:t>RPC / Native SDK Connection</a:t>
                      </a:r>
                      <a:endParaRPr dirty="0">
                        <a:solidFill>
                          <a:schemeClr val="tx1">
                            <a:lumMod val="75000"/>
                            <a:lumOff val="25000"/>
                          </a:schemeClr>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dirty="0">
                          <a:solidFill>
                            <a:srgbClr val="22C55E"/>
                          </a:solidFill>
                          <a:latin typeface="Urbanist SemiBold"/>
                          <a:ea typeface="Urbanist SemiBold"/>
                          <a:cs typeface="Urbanist SemiBold"/>
                          <a:sym typeface="Urbanist SemiBold"/>
                        </a:rPr>
                        <a:t>Level 1 Priority</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07225">
                <a:tc>
                  <a:txBody>
                    <a:bodyPr/>
                    <a:lstStyle/>
                    <a:p>
                      <a:pPr marL="0" marR="0" lvl="0" indent="0" algn="l" rtl="0">
                        <a:spcBef>
                          <a:spcPts val="0"/>
                        </a:spcBef>
                        <a:spcAft>
                          <a:spcPts val="0"/>
                        </a:spcAft>
                        <a:buNone/>
                      </a:pPr>
                      <a:r>
                        <a:rPr lang="en-US" sz="1350" b="1" i="0" u="none" strike="noStrike" cap="none">
                          <a:solidFill>
                            <a:schemeClr val="tx1">
                              <a:lumMod val="75000"/>
                              <a:lumOff val="25000"/>
                            </a:schemeClr>
                          </a:solidFill>
                          <a:latin typeface="Urbanist"/>
                          <a:ea typeface="Urbanist"/>
                          <a:cs typeface="Urbanist"/>
                          <a:sym typeface="Urbanist"/>
                        </a:rPr>
                        <a:t>Alternative Gateway</a:t>
                      </a:r>
                      <a:endParaRPr>
                        <a:solidFill>
                          <a:schemeClr val="tx1">
                            <a:lumMod val="75000"/>
                            <a:lumOff val="25000"/>
                          </a:schemeClr>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chemeClr val="tx1">
                              <a:lumMod val="75000"/>
                              <a:lumOff val="25000"/>
                            </a:schemeClr>
                          </a:solidFill>
                          <a:latin typeface="Urbanist"/>
                          <a:ea typeface="Urbanist"/>
                          <a:cs typeface="Urbanist"/>
                          <a:sym typeface="Urbanist"/>
                        </a:rPr>
                        <a:t>OpenRouter Gateway Endpoint</a:t>
                      </a:r>
                      <a:endParaRPr>
                        <a:solidFill>
                          <a:schemeClr val="tx1">
                            <a:lumMod val="75000"/>
                            <a:lumOff val="25000"/>
                          </a:schemeClr>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dirty="0">
                          <a:solidFill>
                            <a:schemeClr val="tx1">
                              <a:lumMod val="75000"/>
                              <a:lumOff val="25000"/>
                            </a:schemeClr>
                          </a:solidFill>
                          <a:latin typeface="Urbanist"/>
                          <a:ea typeface="Urbanist"/>
                          <a:cs typeface="Urbanist"/>
                          <a:sym typeface="Urbanist"/>
                        </a:rPr>
                        <a:t>HTTPX (Asynchronous REST)</a:t>
                      </a:r>
                      <a:endParaRPr dirty="0">
                        <a:solidFill>
                          <a:schemeClr val="tx1">
                            <a:lumMod val="75000"/>
                            <a:lumOff val="25000"/>
                          </a:schemeClr>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dirty="0">
                          <a:solidFill>
                            <a:srgbClr val="EAB308"/>
                          </a:solidFill>
                          <a:latin typeface="Urbanist SemiBold"/>
                          <a:ea typeface="Urbanist SemiBold"/>
                          <a:cs typeface="Urbanist SemiBold"/>
                          <a:sym typeface="Urbanist SemiBold"/>
                        </a:rPr>
                        <a:t>Level 2 Fallback</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607225">
                <a:tc>
                  <a:txBody>
                    <a:bodyPr/>
                    <a:lstStyle/>
                    <a:p>
                      <a:pPr marL="0" marR="0" lvl="0" indent="0" algn="l" rtl="0">
                        <a:spcBef>
                          <a:spcPts val="0"/>
                        </a:spcBef>
                        <a:spcAft>
                          <a:spcPts val="0"/>
                        </a:spcAft>
                        <a:buNone/>
                      </a:pPr>
                      <a:r>
                        <a:rPr lang="en-US" sz="1350" b="1" i="0" u="none" strike="noStrike" cap="none" dirty="0">
                          <a:solidFill>
                            <a:schemeClr val="tx1">
                              <a:lumMod val="75000"/>
                              <a:lumOff val="25000"/>
                            </a:schemeClr>
                          </a:solidFill>
                          <a:latin typeface="Urbanist"/>
                          <a:ea typeface="Urbanist"/>
                          <a:cs typeface="Urbanist"/>
                          <a:sym typeface="Urbanist"/>
                        </a:rPr>
                        <a:t>Local Search</a:t>
                      </a:r>
                      <a:endParaRPr dirty="0">
                        <a:solidFill>
                          <a:schemeClr val="tx1">
                            <a:lumMod val="75000"/>
                            <a:lumOff val="25000"/>
                          </a:schemeClr>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chemeClr val="tx1">
                              <a:lumMod val="75000"/>
                              <a:lumOff val="25000"/>
                            </a:schemeClr>
                          </a:solidFill>
                          <a:latin typeface="Urbanist"/>
                          <a:ea typeface="Urbanist"/>
                          <a:cs typeface="Urbanist"/>
                          <a:sym typeface="Urbanist"/>
                        </a:rPr>
                        <a:t>ChromaDB Persistent Client</a:t>
                      </a:r>
                      <a:endParaRPr>
                        <a:solidFill>
                          <a:schemeClr val="tx1">
                            <a:lumMod val="75000"/>
                            <a:lumOff val="25000"/>
                          </a:schemeClr>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dirty="0">
                          <a:solidFill>
                            <a:schemeClr val="tx1">
                              <a:lumMod val="75000"/>
                              <a:lumOff val="25000"/>
                            </a:schemeClr>
                          </a:solidFill>
                          <a:latin typeface="Urbanist"/>
                          <a:ea typeface="Urbanist"/>
                          <a:cs typeface="Urbanist"/>
                          <a:sym typeface="Urbanist"/>
                        </a:rPr>
                        <a:t>Vector File System I/O</a:t>
                      </a:r>
                      <a:endParaRPr dirty="0">
                        <a:solidFill>
                          <a:schemeClr val="tx1">
                            <a:lumMod val="75000"/>
                            <a:lumOff val="25000"/>
                          </a:schemeClr>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dirty="0">
                          <a:solidFill>
                            <a:srgbClr val="38BDF8"/>
                          </a:solidFill>
                          <a:latin typeface="Urbanist SemiBold"/>
                          <a:ea typeface="Urbanist SemiBold"/>
                          <a:cs typeface="Urbanist SemiBold"/>
                          <a:sym typeface="Urbanist SemiBold"/>
                        </a:rPr>
                        <a:t>Mandatory Local</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76" name="Google Shape;276;p22"/>
          <p:cNvSpPr txBox="1"/>
          <p:nvPr/>
        </p:nvSpPr>
        <p:spPr>
          <a:xfrm>
            <a:off x="581024" y="6115050"/>
            <a:ext cx="69532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dirty="0">
                <a:solidFill>
                  <a:srgbClr val="22C55E"/>
                </a:solidFill>
                <a:latin typeface="Urbanist"/>
                <a:ea typeface="Urbanist"/>
                <a:cs typeface="Urbanist"/>
                <a:sym typeface="Urbanist"/>
              </a:rPr>
              <a:t>CLARILUX</a:t>
            </a:r>
            <a:endParaRPr dirty="0"/>
          </a:p>
        </p:txBody>
      </p:sp>
      <p:sp>
        <p:nvSpPr>
          <p:cNvPr id="277" name="Google Shape;277;p22"/>
          <p:cNvSpPr txBox="1"/>
          <p:nvPr/>
        </p:nvSpPr>
        <p:spPr>
          <a:xfrm>
            <a:off x="10915650" y="6115050"/>
            <a:ext cx="69532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75569"/>
                </a:solidFill>
                <a:latin typeface="Urbanist"/>
                <a:ea typeface="Urbanist"/>
                <a:cs typeface="Urbanist"/>
                <a:sym typeface="Urbanist"/>
              </a:rPr>
              <a:t>Slide 10 of 11</a:t>
            </a:r>
            <a:endParaRPr/>
          </a:p>
        </p:txBody>
      </p:sp>
      <p:sp>
        <p:nvSpPr>
          <p:cNvPr id="278" name="Google Shape;278;p22"/>
          <p:cNvSpPr/>
          <p:nvPr/>
        </p:nvSpPr>
        <p:spPr>
          <a:xfrm>
            <a:off x="585787" y="2936527"/>
            <a:ext cx="2431107"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9" name="Google Shape;279;p22"/>
          <p:cNvSpPr/>
          <p:nvPr/>
        </p:nvSpPr>
        <p:spPr>
          <a:xfrm>
            <a:off x="3016894" y="2936527"/>
            <a:ext cx="3311574"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0" name="Google Shape;280;p22"/>
          <p:cNvSpPr/>
          <p:nvPr/>
        </p:nvSpPr>
        <p:spPr>
          <a:xfrm>
            <a:off x="6328469" y="2936527"/>
            <a:ext cx="3178671"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1" name="Google Shape;281;p22"/>
          <p:cNvSpPr/>
          <p:nvPr/>
        </p:nvSpPr>
        <p:spPr>
          <a:xfrm>
            <a:off x="9507140" y="2936527"/>
            <a:ext cx="2099071"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2" name="Google Shape;282;p22"/>
          <p:cNvSpPr/>
          <p:nvPr/>
        </p:nvSpPr>
        <p:spPr>
          <a:xfrm>
            <a:off x="585787" y="3536602"/>
            <a:ext cx="2431107"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3" name="Google Shape;283;p22"/>
          <p:cNvSpPr/>
          <p:nvPr/>
        </p:nvSpPr>
        <p:spPr>
          <a:xfrm>
            <a:off x="3016894" y="3536602"/>
            <a:ext cx="3311574"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4" name="Google Shape;284;p22"/>
          <p:cNvSpPr/>
          <p:nvPr/>
        </p:nvSpPr>
        <p:spPr>
          <a:xfrm>
            <a:off x="6328469" y="3536602"/>
            <a:ext cx="3178671"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5" name="Google Shape;285;p22"/>
          <p:cNvSpPr/>
          <p:nvPr/>
        </p:nvSpPr>
        <p:spPr>
          <a:xfrm>
            <a:off x="9507140" y="3536602"/>
            <a:ext cx="2099071"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6" name="Google Shape;286;p22"/>
          <p:cNvSpPr/>
          <p:nvPr/>
        </p:nvSpPr>
        <p:spPr>
          <a:xfrm>
            <a:off x="585787" y="4136677"/>
            <a:ext cx="2431107"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7" name="Google Shape;287;p22"/>
          <p:cNvSpPr/>
          <p:nvPr/>
        </p:nvSpPr>
        <p:spPr>
          <a:xfrm>
            <a:off x="3016894" y="4136677"/>
            <a:ext cx="3311574"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8" name="Google Shape;288;p22"/>
          <p:cNvSpPr/>
          <p:nvPr/>
        </p:nvSpPr>
        <p:spPr>
          <a:xfrm>
            <a:off x="6328469" y="4136677"/>
            <a:ext cx="3178671"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9" name="Google Shape;289;p22"/>
          <p:cNvSpPr/>
          <p:nvPr/>
        </p:nvSpPr>
        <p:spPr>
          <a:xfrm>
            <a:off x="9507140" y="4136677"/>
            <a:ext cx="2099071"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0" name="Google Shape;290;p22"/>
          <p:cNvSpPr txBox="1"/>
          <p:nvPr/>
        </p:nvSpPr>
        <p:spPr>
          <a:xfrm>
            <a:off x="771525" y="581025"/>
            <a:ext cx="11381422" cy="4342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dirty="0">
                <a:solidFill>
                  <a:srgbClr val="FFFFFF"/>
                </a:solidFill>
                <a:latin typeface="Urbanist"/>
                <a:ea typeface="Urbanist"/>
                <a:cs typeface="Urbanist"/>
                <a:sym typeface="Urbanist"/>
              </a:rPr>
              <a:t>SYSTEM PRIORITY CONFIGURATION</a:t>
            </a:r>
            <a:endParaRPr dirty="0"/>
          </a:p>
        </p:txBody>
      </p:sp>
      <p:sp>
        <p:nvSpPr>
          <p:cNvPr id="291" name="Google Shape;291;p22"/>
          <p:cNvSpPr/>
          <p:nvPr/>
        </p:nvSpPr>
        <p:spPr>
          <a:xfrm>
            <a:off x="581025" y="581025"/>
            <a:ext cx="57150" cy="434280"/>
          </a:xfrm>
          <a:prstGeom prst="rect">
            <a:avLst/>
          </a:prstGeom>
          <a:solidFill>
            <a:srgbClr val="22C55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329"/>
        </a:solidFill>
        <a:effectLst/>
      </p:bgPr>
    </p:bg>
    <p:spTree>
      <p:nvGrpSpPr>
        <p:cNvPr id="1" name="Shape 295"/>
        <p:cNvGrpSpPr/>
        <p:nvPr/>
      </p:nvGrpSpPr>
      <p:grpSpPr>
        <a:xfrm>
          <a:off x="0" y="0"/>
          <a:ext cx="0" cy="0"/>
          <a:chOff x="0" y="0"/>
          <a:chExt cx="0" cy="0"/>
        </a:xfrm>
      </p:grpSpPr>
      <p:pic>
        <p:nvPicPr>
          <p:cNvPr id="297" name="Google Shape;297;p23" descr="image.png"/>
          <p:cNvPicPr preferRelativeResize="0"/>
          <p:nvPr/>
        </p:nvPicPr>
        <p:blipFill rotWithShape="1">
          <a:blip r:embed="rId3">
            <a:alphaModFix/>
          </a:blip>
          <a:srcRect/>
          <a:stretch/>
        </p:blipFill>
        <p:spPr>
          <a:xfrm>
            <a:off x="581025" y="5962650"/>
            <a:ext cx="11029950" cy="314325"/>
          </a:xfrm>
          <a:prstGeom prst="rect">
            <a:avLst/>
          </a:prstGeom>
          <a:noFill/>
          <a:ln>
            <a:noFill/>
          </a:ln>
        </p:spPr>
      </p:pic>
      <p:sp>
        <p:nvSpPr>
          <p:cNvPr id="298" name="Google Shape;298;p23"/>
          <p:cNvSpPr txBox="1"/>
          <p:nvPr/>
        </p:nvSpPr>
        <p:spPr>
          <a:xfrm>
            <a:off x="581024" y="6115050"/>
            <a:ext cx="729615" cy="161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dirty="0">
                <a:solidFill>
                  <a:srgbClr val="22C55E"/>
                </a:solidFill>
                <a:latin typeface="Urbanist"/>
                <a:ea typeface="Urbanist"/>
                <a:cs typeface="Urbanist"/>
                <a:sym typeface="Urbanist"/>
              </a:rPr>
              <a:t>CLARILUX</a:t>
            </a:r>
            <a:endParaRPr dirty="0"/>
          </a:p>
        </p:txBody>
      </p:sp>
      <p:sp>
        <p:nvSpPr>
          <p:cNvPr id="299" name="Google Shape;299;p23"/>
          <p:cNvSpPr txBox="1"/>
          <p:nvPr/>
        </p:nvSpPr>
        <p:spPr>
          <a:xfrm>
            <a:off x="10953750" y="6115050"/>
            <a:ext cx="657225" cy="161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0" i="0" u="none" strike="noStrike" cap="none">
                <a:solidFill>
                  <a:srgbClr val="475569"/>
                </a:solidFill>
                <a:latin typeface="Urbanist"/>
                <a:ea typeface="Urbanist"/>
                <a:cs typeface="Urbanist"/>
                <a:sym typeface="Urbanist"/>
              </a:rPr>
              <a:t>Slide 11 of 11</a:t>
            </a:r>
            <a:endParaRPr/>
          </a:p>
        </p:txBody>
      </p:sp>
      <p:sp>
        <p:nvSpPr>
          <p:cNvPr id="300" name="Google Shape;300;p23"/>
          <p:cNvSpPr txBox="1"/>
          <p:nvPr/>
        </p:nvSpPr>
        <p:spPr>
          <a:xfrm>
            <a:off x="2750581" y="2186880"/>
            <a:ext cx="6690836" cy="788640"/>
          </a:xfrm>
          <a:prstGeom prst="rect">
            <a:avLst/>
          </a:prstGeom>
          <a:noFill/>
          <a:ln>
            <a:noFill/>
          </a:ln>
        </p:spPr>
        <p:txBody>
          <a:bodyPr spcFirstLastPara="1" wrap="square" lIns="0" tIns="0" rIns="0" bIns="0" anchor="t" anchorCtr="0">
            <a:spAutoFit/>
          </a:bodyPr>
          <a:lstStyle/>
          <a:p>
            <a:pPr marL="0" marR="0" lvl="0" indent="0" algn="ctr" rtl="0">
              <a:lnSpc>
                <a:spcPct val="114981"/>
              </a:lnSpc>
              <a:spcBef>
                <a:spcPts val="0"/>
              </a:spcBef>
              <a:spcAft>
                <a:spcPts val="0"/>
              </a:spcAft>
              <a:buNone/>
            </a:pPr>
            <a:r>
              <a:rPr lang="en-US" sz="5400" b="1" i="0" u="none" strike="noStrike" cap="none" dirty="0">
                <a:solidFill>
                  <a:srgbClr val="FFFFFF"/>
                </a:solidFill>
                <a:latin typeface="Urbanist"/>
                <a:ea typeface="Urbanist"/>
                <a:cs typeface="Urbanist"/>
                <a:sym typeface="Urbanist"/>
              </a:rPr>
              <a:t>TECHNICAL </a:t>
            </a:r>
            <a:r>
              <a:rPr lang="en-US" sz="5400" b="1" i="0" u="none" strike="noStrike" cap="none" dirty="0">
                <a:solidFill>
                  <a:srgbClr val="22C55E"/>
                </a:solidFill>
                <a:latin typeface="Urbanist"/>
                <a:ea typeface="Urbanist"/>
                <a:cs typeface="Urbanist"/>
                <a:sym typeface="Urbanist"/>
              </a:rPr>
              <a:t>Q&amp;A</a:t>
            </a:r>
            <a:endParaRPr dirty="0"/>
          </a:p>
        </p:txBody>
      </p:sp>
      <p:sp>
        <p:nvSpPr>
          <p:cNvPr id="301" name="Google Shape;301;p23"/>
          <p:cNvSpPr txBox="1"/>
          <p:nvPr/>
        </p:nvSpPr>
        <p:spPr>
          <a:xfrm>
            <a:off x="2909887" y="3166020"/>
            <a:ext cx="6372225"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CBD5E1"/>
                </a:solidFill>
                <a:latin typeface="Urbanist"/>
                <a:ea typeface="Urbanist"/>
                <a:cs typeface="Urbanist"/>
                <a:sym typeface="Urbanist"/>
              </a:rPr>
              <a:t>Clarilux Support AI (Claribot) Operations &amp; Codebase Documentation</a:t>
            </a:r>
            <a:endParaRPr/>
          </a:p>
        </p:txBody>
      </p:sp>
      <p:sp>
        <p:nvSpPr>
          <p:cNvPr id="302" name="Google Shape;302;p23"/>
          <p:cNvSpPr txBox="1"/>
          <p:nvPr/>
        </p:nvSpPr>
        <p:spPr>
          <a:xfrm>
            <a:off x="2909887" y="3956595"/>
            <a:ext cx="6372225" cy="2095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dirty="0">
                <a:solidFill>
                  <a:srgbClr val="475569"/>
                </a:solidFill>
                <a:latin typeface="Urbanist"/>
                <a:ea typeface="Urbanist"/>
                <a:cs typeface="Urbanist"/>
                <a:sym typeface="Urbanist"/>
              </a:rPr>
              <a:t>Powered by FastAPI • Streamlit • ChromaDB • Gemini 2.5 Flash</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TotalTime>
  <Words>907</Words>
  <Application>Microsoft Office PowerPoint</Application>
  <PresentationFormat>Widescreen</PresentationFormat>
  <Paragraphs>106</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Urbanist SemiBold</vt:lpstr>
      <vt:lpstr>Urbanist</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Joshua Adekunle</cp:lastModifiedBy>
  <cp:revision>4</cp:revision>
  <dcterms:modified xsi:type="dcterms:W3CDTF">2026-06-26T06:48:01Z</dcterms:modified>
</cp:coreProperties>
</file>